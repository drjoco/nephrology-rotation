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Glomerulonephritis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sediment, pattern recognition, urgent biopsy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Hematuria + proteinuria + rising Cr is not just AKI — look at the urine.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progressive GN can cause irreversible loss if not recognized early.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Clinical Practice Guideline for Glomerular Diseases.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FOR CONSULT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sediment: RBC casts, dysmorphic RBCs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Hematuria + proteinuria + rising Cr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Nephrotic range (UPCR &gt; 3 or 3.5 g/day)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Pulmonary-renal syndrome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 + arthritis + kidney disease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AKI with active UA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Hypocomplementemia + AKI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Hematuria + proteinuria + rising Cr is never 'just AKI.' Urine findings can flip management from watchful ATN to urgent biopsy + immunosuppression.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Nephritic vs nephrotic — the orienting split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patterns, different differentials, different urgencies.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Overview of the classification and causes of glomerular disease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NEPHRITIC  —  inflammation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Hematuria (dysmorphic RBCs, RBC casts)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proteinuria (usually &lt; 3 g/day)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(salt + water retention)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Cr, often acute/subacute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 — periorbital, pedal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IgA, post-infectious, lupus, antineutrophil cytoplasmic antibody (ANCA), anti-glomerular basement membrane (anti-GBM)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Urgency: rising Cr = consider rapidly progressive glomerulonephritis (RPGN) workup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NEPHROTIC  —  barrier loss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Proteinuria &gt; 3.5 g/day (or UPCR &gt; 3)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Hypoalbuminemia (&lt; 3 g/dL)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 — often generalized, anasarca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Hyperlipidemia, hypercoagulability (renal vein thrombosis, DVT)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 sediment (± oval fat bodies, 'maltese cross')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minimal change, focal segmental glomerulosclerosis (FSGS), membranous, DKD, amyloid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Urgency: usually less acute, but assess VTE risk, edema, and lipids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Proteinuria and nephrotic syndrome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first — then recognize the complications.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Glomerular Diseases. UpToDate: Overview of nephrotic syndrome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PROTEINURIA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UACR — best screen (albumin specific)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Normal &lt; 30 mg/g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Moderate A2 = 30–300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Severe A3 = &gt; 300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UPCR (g/g) ≈ g/day proteinuria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Nephrotic range: UPCR &gt; 3 or &gt; 3.5 g/day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 urine: gold standard but often impractical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NEPHROTIC SYNDROME — MANAGE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Tetrad: &gt; 3.5 g/day proteinuria, albumin &lt; 3, edema, hyperlipidemia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VTE risk — consider anticoagulation when albumin is very low, especially membranous, after bleeding-risk review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risk (loss of Ig, complement)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Tx: max ACEi/ARB, SGLT2i, statin, Na restriction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confirms primary cause — drives immunosuppression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 sediment — reference card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reference. Most labs report sediment findings automatically.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Urinalysis in kidney disease (2026).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486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RBC casts / dysmorphic RBCs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Glomerular bleeding → GN (IgA, ANCA, lupus, anti-GBM, post-strep)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Muddy brown / granular 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Tubular injury → ATN (ischemic, septic, toxic)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WBC 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Pyelonephritis, acute interstitial nephritis (AIN)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Waxy 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kidney disease (advanced, low urine flow)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Hyaline 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Nonspecific — dehydration, fever; can be 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 fat bodies / Maltese cross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proteinuria / nephrotic syndrome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Eosinophils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 (low sensitivity) or atheroembolic disease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Crystals (calcium oxalate, uric acid)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Ethylene glycol (oxalate); tumor lysis / urate; stones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solidFill>
            <a:srgbClr val="EBF3F7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99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outpatient labs report sediment automatically; manual microscopy is rarely done in clinic but remains the gold standard when the diagnosis is unclear.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GN serologic panel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early — results often take days, and timing matters.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Evaluation of the adult with hematuria (2026).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you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ANA, anti-dsDNA, anti-Sm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Lupus activity; dsDNA correlates with nephritis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 nephritis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/ C4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in SLE, post-strep, membranoproliferative glomerulonephritis (MPGN), cryoglobulinemia; normal in ANCA and anti-GBM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ddx quickly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ANCA  (myeloperoxidase (MPO), proteinase 3 (PR3))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PR3 → granulomatosis with polyangiitis (GPA); MPO → microscopic polyangiitis (MPA); either can cause renal-limited vasculitis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ANCA-associated vasculitis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Anti-GBM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IgG on biopsy; rapid and irreversible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Goodpasture syndrome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PLA2R antibody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in ~70% of primary membranous; follow to monitor therapy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Membranous nephropathy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HBV, HCV, HIV, cryoglobulins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causes of MPGN or membranous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Infection-driven 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 CH50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for C3 glomerulopathy / dense deposit disease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complement-mediated 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ASO, anti-DNase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strep infection (2–4 weeks)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Post-streptococcal 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Urgent: pulmonary-renal syndrome &amp; RPGN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Minutes-to-hours decisions. Biopsy and immunosuppression don't wait.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Approach to the patient with pulmonary-renal syndrome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Hemoptysis + hematuria + rising Cr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oxygen requirement, infiltrates on CXR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doubling over days; oliguria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sediment (RBC casts)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Mononeuritis multiplex, sinus disease, upper-airway bleeding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 or anti-GBM positive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biopsy TODAY if feasible; empiric steroids + consider PLEX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MANAGEMENT (before biopsy)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Stabilize: O2, transfuse if bleeding, protect access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Send: ANCA, anti-GBM, ANA, dsDNA, C3/C4, urgent UA + microscopy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 IV methylprednisolone 500–1000 mg/day × 3 if anti-GBM suspected (can't wait)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PLEX: consider for severe kidney disease, rapidly rising Cr, dialysis need, or hypoxemic pulmonary hemorrhage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as soon as platelets, BP, anticoagulation allow</a:t>
            </a: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IR / nephrology for urgent native kidney biopsy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glomerular diseases — recognition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+ clinical context = diagnosis most of the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various topic reviews (2026).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IgA nephropathy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synpharyngitic hematuria in young adult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IgA-dominant IF on biopsy; most common GN worldwide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Post-infectious 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Kids 1–3 wk after strep throat/impetigo; adults post-staph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C3 (recovers 6–8 wk); humps on 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Lupus nephritis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woman, rash, arthritis, serositis, cytopenias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ANA+, dsDNA+, low C3/C4; class I–VI on biopsy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ANCA vasculitis (GPA, MPA)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adult, sinus/pulmonary disease, RPGN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MPO/PR3+; pauci-immune crescentic 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Anti-GBM  (Goodpasture)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Hemoptysis + RPGN, bimodal 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IgG; urgent PLEX + immunosuppression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Membranous nephropathy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 nephrotic syndrome + VTE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PLA2R+ in ~70% (primary); spike &amp; dome on 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African ancestry/APOL1 risk, obesity, HIV, heroin, reflux — nephrotic range proteinuria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Segmental sclerosis; APOL1 variants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full nephrotic syndrome; children; NSAID-associated in adults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LM, foot-process effacement on 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 biopsy + treatment scaffolding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confirms; supportive care + targeted immunosuppression treats.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Glomerular Diseases Guideline.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BIOPSY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rising Cr + active sediment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Nephrotic syndrome in adult (most — exclude DKD)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AKI with hematuria/proteinuria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lupus nephritis to classify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persistent proteinuria &gt; 1 g/day with features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Pre-biopsy: platelets &gt; 50K, INR &lt; 1.5, BP &lt; 160/90, stop AC 5–7 d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Complications: bleeding (~2%), transfusion (~1%), AV fistula, rarely nephrectomy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THERAPY  (always)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Max-dose ACEi or ARB for proteinuria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SGLT2i (added benefit in proteinuric CKD — DAPA-CKD, EMPA-KIDNEY)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target SBP &lt; 120 (proteinuric, non-dialysis CKD)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Low-sodium diet (&lt; 2 g/day)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 for lipid management (nephrotic)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anticoagulation for high-risk nephrotic syndrome after bleeding-risk review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 before immunosuppression (PPSV, HBV, influenza, COVID, zoster)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trials in glomerular disease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RCTs that shape current management.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6126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Rituximab non-inferior to cyclophosphamide for ANCA induction; preferred in relapse.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MAINRITSAN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Rituximab maintenance superior to azathioprine in ANCA vasculitis.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PEXIVAS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Reduced-dose steroids non-inferior; PLEX not routine, but KDIGO 2024 still considers it in highest-risk AAV.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Rituximab SUPERIOR to cyclosporine at 24 mo for membranous (durable remission).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STOP-IgAN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Immunosuppression on top of supportive care did NOT slow IgAN; SC is foundation.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Methylpred slowed IgAN progression (HR 0.53 full cohort; HR 0.27 reduced-dose); more infection.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NefIgArd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Targeted-release budesonide ↓ proteinuria &amp; slowed eGFR decline in IgAN.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DAPA-CKD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Dapagliflozin ↓ kidney failure even in non-DM CKD (including IgAN, FSGS subgroups).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EMPA-KIDNEY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Empagliflozin benefit across eGFR/urine albumin-to-creatinine ratio (UACR), including many primary GN etiologies.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presentation mistakes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when presenting a possible GN.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it AKI without checking UA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dipstick alone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day-1 serologic panel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Delaying biopsy for labs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 without a taper plan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anticoagulation for every nephrotic patient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vaccines before immunosuppression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UA + proteinuria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formal UA + microscopy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ANA, dsDNA, ANCA, anti-GBM, C3/C4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up biopsy early (plts, INR, BP)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steroids with rituximab/CYC + taper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albumin → weigh VTE vs bleeding risk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 before steroids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48-year-old man, 3-week history of sinusitis, hemoptysis, and fatigue. Admitted with Cr 3.4 (baseline 1.0 six months ago), UA: 3+ blood, 2+ protein, RBC casts, dysmorphic RBCs; UACR 2800. BP 168/102. CXR: bilateral patchy infiltrates. C3 and C4 normal. ANCA pending. No rash.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likely diagnosis, what do you send today, and what's the urgency?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Glomerulonephritis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ANCA-associated vasculitis (likely GPA: sinus + pulmonary + renal, normal complements). Send ANCA (MPO/PR3), anti-GBM, ANA/dsDNA. Biopsy TODAY. Empiric high-dose IV methylprednisolone after samples drawn.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Pulmonary-renal syndrome with rapidly rising Cr + active sediment = RPGN until proven otherwise. Classic triad for GPA: upper airway (sinus, nose) + lower airway (lung) + kidney. Normal C3/C4 argues against lupus or post-infectious. While waiting for biopsy: stabilize BP, oxygenation, no anticoagulation if biopsy planned. RAVE showed rituximab non-inferior to cyclophosphamide; PEXIVAS supports reduced-dose steroids. PLEX is not routine, but KDIGO 2024 still considers it for SCr &gt; 3.4 mg/dL, dialysis/rapidly rising SCr, hypoxemic alveolar hemorrhage, or ANCA/anti-GBM overlap.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Glomerulonephritis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Glomerular Diseases Guideline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ANCA Vasculitis Guideline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2019 Lupus Nephritis Guidelines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EULAR/ERA-EDTA SLE Management Recs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— ANCA vasculitis management consensus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ASN/NephJC educational resources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 — NEJM 2010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MAINRITSAN — NEJM 2014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PEXIVAS — NEJM 2020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— NEJM 2019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STOP-IgAN — NEJM 2015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JAMA 2022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NefIgArd — Lancet 2023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DAPA-CKD — NEJM 2020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EMPA-KIDNEY — NEJM 2023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classification and causes of glomerular disease  •  Evaluation of the adult with hematuria  •  Approach to the patient with pulmonary-renal syndrome  •  Treatment of ANCA-associated vasculitis  •  Treatment of lupus nephritis  •  Primary membranous nephropathy: pathogenesis and treatment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Glomerulonephritis</dc:title>
  <dc:subject>PptxGenJS Presentation</dc:subject>
  <dc:creator>Dr. Cheng</dc:creator>
  <cp:lastModifiedBy>Dr. Cheng</cp:lastModifiedBy>
  <cp:revision>1</cp:revision>
  <dcterms:created xsi:type="dcterms:W3CDTF">2026-04-23T13:26:11Z</dcterms:created>
  <dcterms:modified xsi:type="dcterms:W3CDTF">2026-04-23T13:26:11Z</dcterms:modified>
</cp:coreProperties>
</file>