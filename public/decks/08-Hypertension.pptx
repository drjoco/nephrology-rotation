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NEPHROLOGY TEACHING SERIES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Hypertension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 approach and resistant HTN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914400" cy="3657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BP data outweighs office readings. Never escalate from one office measurement.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Cheng  •  Premier Nephrology Medical Group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MS3/MS4 rotation teaching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Common, silent, modifiable — and still the leading modifiable CV risk factor.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ACC/AHA 2017 (plus 2025 update). KDIGO 2021 BP in CKD.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CLINIC VISIT COVERS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home / ambulatory BP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130/80; &lt; 120 in CKD / high CV risk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Lifestyle, then staged 3-drug ladder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+ side effects first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causes in resistant HTN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risk: lipid, DM, smoking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End-organ: UACR, ECG (LVH), fundus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EB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4023360" cy="731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PEARL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3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Office BP is a hypothesis, not a diagnosis. Check adherence, cuff size, home log before adding drugs. Most 'resistant' HTN is pseudo-resistant.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 and targets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technique drives both.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ACC/AHA 2017/2025; KDIGO 2021 BP in CKD; SPRINT (NEJM 2015).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1920240"/>
                <a:gridCol w="28346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SBP / DBP (office)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average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120 / &lt; 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120 / &lt; 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Lifestyle; recheck annually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120–129 / &lt; 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120–129 / &lt; 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Lifestyle; recheck 3–6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130–139 / 80–89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130 / ≥ 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Lifestyle ± drug if CV risk ≥ 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140 / ≥ 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135 / ≥ 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+ lifestyle; 2-drug combo if ≥ 160/100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Hypertensive crisis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180 / ≥ 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evaluation — end-organ damage? IV if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solidFill>
            <a:srgbClr val="EBF3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by population: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&lt; 130/80 (ACC/AHA) • CKD SBP &lt; 120 (KDIGO 2021, automated office blood pressure (AOBP)-measured) • Elderly consider tolerability • Orthostasis → aim at standing SBP too.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Measurement — the most common error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changes SBP by 10–20 mmHg. Do it right before escalating.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 2019 Measurement of BP in Humans; SPRINT protocol.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BP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quiet seating; feet flat on floor; no caffeine / nicotine / exercise 30 min prior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cuff size: bladder width 40%, length 80% of arm circumference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supported, arm at heart level, uncovered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talking during measurement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2 readings at least 1 min apart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office BP (AOBP) = unattended, automated; most aligned with SPRINT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AMBULATORY BP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for diagnosis &amp; titration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of morning + evening readings, duplicates, discard day 1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upper-arm cuff (not wrist)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BP averages are 5 mmHg LOWER than office — use HBP thresholds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White-coat HTN: elevated office, normal home → monitor only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HTN: normal office, elevated home → treat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drug ladder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classes, titrated to target. Add spironolactone if resistant.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ACC/AHA 2017/2025; PATHWAY-2 (Lancet 2015) for resistant HTN.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834640"/>
                <a:gridCol w="2926080"/>
                <a:gridCol w="20116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when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when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65A8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ACEi or ARB (not both)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CKD (UACR &gt; 30), DM, HFrEF, post-MI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Pregnancy; bilateral renal artery stenosis (RAS); hyperK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65A8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Thiazide  (chlorthalidone 12.5–25 mg preferred)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 patient, Black patients, low-renin HTN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eGFR &lt; 30 (use loop instead), gout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65A8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DHP calcium channel blocker (CCB)  (amlodipine 5–10 mg)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Elderly isolated systolic HTN, Black patients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HFrEF (non-DHP), bradyarrhythmia (non-DHP)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76F5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Spironolactone 25–50 mg  (or finerenone in DKD)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Resistant HTN on max 3-drug combo (PATHWAY-2)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&gt; 5.0, severe CKD; watch gynecomastia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4748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+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Beta-blocker, clonidine, hydralazine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after 4th drug if still not controlled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 for secondary HTN at this 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hypertension — who to work up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shotgun panel. Pick the test based on the clue.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Society 2016/2025 Primary Aldosteronism. JNC/ACC-AHA secondary screening.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377440"/>
                <a:gridCol w="2560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Hypokalemia (spontaneous or diuretic-exaggerated)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aldosteronism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Aldosterone/renin ratio (morning, off mineralocorticoid receptor antagonist (MRA) 4 wk)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HTN in young adult or resistant, with renal asymmetry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Fibromuscular dysplasia / atherosclerotic 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Duplex renal US → CTA/MRA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pulmonary edema, acute Cr bump on ACEi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 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Renal duplex / MRA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Paroxysmal HTN + headache, sweating, palpitations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Pheochromocytoma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Plasma metanephrines (free, fractionated)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Moon facies, central obesity, striae, DM, hypoK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Cushing syndrome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24-h urinary free cortisol; low-dose dexamethasone suppression test (LDDST); 11 pm salivary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Snoring, daytime sleepiness, BMI &gt; 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Obstructive sleep apnea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sleep study → PSG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HTN in pregnancy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Preeclampsia, chronic HTN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OB; ACEi/ARB contraindicated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 HTN + weak femoral pulses / rib notching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Coarctation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CXR, echo, CTA/MRA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Resistant hypertension workup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resistant HTN ≠ pseudo-resistant. Rule out the latter first.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 2018 Resistant HTN scientific statement. PATHWAY-2.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PSEUDO-RESISTANT (check first)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Non-adherence (the #1 cause)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White-coat effect — confirm with home/ambulatory BP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Sub-optimal drug dosing (not titrated to max)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cuff size; improper technique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overload (high Na diet, inadequate diuretic)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Interfering substances: NSAIDs, OCPs, pseudoephedrine, alcohol, stimulants, herbal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ruled out → true resistant; now pursue secondary workup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RESISTANT HTN  —  STEPS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BP &gt; 130/80 on 3 maximized meds (incl. diuretic); OR controlled on 4 meds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add spironolactone 25 mg (PATHWAY-2: best in resistant HTN)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K+ at 2 weeks; titrate to 50 mg if tolerated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work up secondary HTN comprehensively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add β-blocker, central α agonist, hydralazine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denervation (investigational, limited) — SPYRAL/RADIANCE trials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direct-acting vasodilators, nitroprusside only in crisis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Landmark HTN trials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RCTs that set modern targets and drug choices.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 on references slide.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63093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Takeaway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Chlorthalidone as good as ACEi or CCB for HTN — cheaper first-line option.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Ramipril ↓ CV events in high-risk non-HTN patients — BP-independent benefit.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ACCORD-BP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Intensive BP (&lt; 120) in T2DM — no CV benefit, more AE. Called SPRINT into question.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SBP &lt; 120 (by AOBP) ↓ CV 25% and mortality 27% vs &lt; 140 in non-DM high-risk.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PATHWAY-2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Spironolactone &gt; bisoprolol, doxazosin for resistant HTN. NNT = 4.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DBP target: &lt; 80 = &lt; 85 = &lt; 90 in most, but DM benefited from &lt; 80.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SYST-EUR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CCB reduced stroke in elderly isolated systolic HTN.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Intensive (&lt; 130) vs standard (&lt; 150) in elderly Chinese — 26% ↓ CV events.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clinic mistakes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errors that lead to under-control or over-treatment.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Nephrology teaching guide.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from one office reading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Prescribing without home BP log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adherence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 + ARB (ONTARGET)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Thiazide at eGFR &lt; 30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Blaming ACEi for 10% Cr rise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OSA, NSAIDs, decongestants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INSTEAD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home log first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 count + open adherence Qs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cuff size + technique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RAAS blocker, max dose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if eGFR &lt; 30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Cr ↑ up to 30% on ACEi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 about OSA + OTCs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 — answer is on the next slide.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2514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VIGNETTE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52-year-old woman with T2DM, BMI 33, snoring. On lisinopril 40, HCTZ 25, amlodipine 10, metoprolol 50 BID. Office BP today 152/92 (Korotkoff, repeat 150/90). Home BP log: 148/88 to 155/94 am, 140/85 pm. Adherent by pill-count. K+ 3.4, spontaneously.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EBF3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9592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resistant HTN? What's the most likely secondary cause and next step?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 — answer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teaching points from the case.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0972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(uncontrolled on 3 appropriate agents incl. diuretic). Primary aldosteronism — spontaneous hypokalemia + resistant HTN. Check aldosterone/renin ratio (morning, off MRA 4 wk).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84124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14600"/>
            <a:ext cx="73152" cy="2240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877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resistant HTN requires 3 appropriately-dosed agents including a diuretic. Before adding a 4th drug, always work up secondary causes. Primary aldosteronism is the #1 secondary cause in resistant HTN, especially if spontaneous or diuretic-exaggerated hypokalemia. Testing: aldosterone/renin ratio AM, ideally off MRA × 4 weeks when safe. Other secondary causes: OSA (she snores!), RAS (younger women → FMD), pheo, Cushing, CKD, CoA. Next step after workup: add spironolactone 25 mg (PATHWAY-2 NNT 4 for resistant HTN). Also: weight loss, sleep study.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Hypertension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ACC/AHA 2017 Hypertension Guideline (+ 2025 update)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2021 Blood Pressure in CKD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Society 2016/2025 Primary Aldosteronism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 2018 Resistant Hypertension Scientific Statement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 2019 BP Measurement in Humans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Trials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9659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ALLHAT — JAMA 2002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— NEJM 2000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ACCORD-BP — NEJM 2010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— NEJM 2015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PATHWAY-2 — Lancet 2015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— Lancet 1998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SYST-EUR — Lancet 1997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— NEJM 2021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 (2026 access):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hypertension in adults  •  Choice of drug therapy in primary (essential) hypertension  •  Evaluation of resistant hypertension  •  Primary aldosteronism: screening and diagnosis  •  Ambulatory and home blood pressure monitoring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Hypertension</dc:title>
  <dc:subject>PptxGenJS Presentation</dc:subject>
  <dc:creator>Dr. Cheng</dc:creator>
  <cp:lastModifiedBy>Dr. Cheng</cp:lastModifiedBy>
  <cp:revision>1</cp:revision>
  <dcterms:created xsi:type="dcterms:W3CDTF">2026-04-23T05:14:12Z</dcterms:created>
  <dcterms:modified xsi:type="dcterms:W3CDTF">2026-04-23T05:14:12Z</dcterms:modified>
</cp:coreProperties>
</file>