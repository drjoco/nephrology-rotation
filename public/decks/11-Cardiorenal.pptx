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3E5C"/>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76F51"/>
          </a:solidFill>
          <a:ln/>
        </p:spPr>
      </p:sp>
      <p:sp>
        <p:nvSpPr>
          <p:cNvPr id="3" name="Text 1"/>
          <p:cNvSpPr/>
          <p:nvPr/>
        </p:nvSpPr>
        <p:spPr>
          <a:xfrm>
            <a:off x="822960" y="822960"/>
            <a:ext cx="7315200" cy="320040"/>
          </a:xfrm>
          <a:prstGeom prst="rect">
            <a:avLst/>
          </a:prstGeom>
          <a:noFill/>
          <a:ln/>
        </p:spPr>
        <p:txBody>
          <a:bodyPr wrap="square" lIns="0" tIns="0" rIns="0" bIns="0" rtlCol="0" anchor="ctr"/>
          <a:lstStyle/>
          <a:p>
            <a:pPr indent="0" marL="0">
              <a:buNone/>
            </a:pPr>
            <a:r>
              <a:rPr lang="en-US" sz="1100" b="1" spc="800" kern="0" dirty="0">
                <a:solidFill>
                  <a:srgbClr val="E76F51"/>
                </a:solidFill>
                <a:latin typeface="Calibri" pitchFamily="34" charset="0"/>
                <a:ea typeface="Calibri" pitchFamily="34" charset="-122"/>
                <a:cs typeface="Calibri" pitchFamily="34" charset="-120"/>
              </a:rPr>
              <a:t>NEPHROLOGY TEACHING SERIES</a:t>
            </a:r>
            <a:endParaRPr lang="en-US" sz="1100" dirty="0"/>
          </a:p>
        </p:txBody>
      </p:sp>
      <p:sp>
        <p:nvSpPr>
          <p:cNvPr id="4" name="Text 2"/>
          <p:cNvSpPr/>
          <p:nvPr/>
        </p:nvSpPr>
        <p:spPr>
          <a:xfrm>
            <a:off x="822960" y="1371600"/>
            <a:ext cx="7772400" cy="128016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Cardiorenal Syndrome</a:t>
            </a:r>
            <a:endParaRPr lang="en-US" sz="5400" dirty="0"/>
          </a:p>
        </p:txBody>
      </p:sp>
      <p:sp>
        <p:nvSpPr>
          <p:cNvPr id="5" name="Text 3"/>
          <p:cNvSpPr/>
          <p:nvPr/>
        </p:nvSpPr>
        <p:spPr>
          <a:xfrm>
            <a:off x="822960" y="2697480"/>
            <a:ext cx="7772400" cy="411480"/>
          </a:xfrm>
          <a:prstGeom prst="rect">
            <a:avLst/>
          </a:prstGeom>
          <a:noFill/>
          <a:ln/>
        </p:spPr>
        <p:txBody>
          <a:bodyPr wrap="square" lIns="0" tIns="0" rIns="0" bIns="0" rtlCol="0" anchor="ctr"/>
          <a:lstStyle/>
          <a:p>
            <a:pPr indent="0" marL="0">
              <a:buNone/>
            </a:pPr>
            <a:r>
              <a:rPr lang="en-US" sz="1800" i="1" dirty="0">
                <a:solidFill>
                  <a:srgbClr val="EBF3F7"/>
                </a:solidFill>
                <a:latin typeface="Calibri" pitchFamily="34" charset="0"/>
                <a:ea typeface="Calibri" pitchFamily="34" charset="-122"/>
                <a:cs typeface="Calibri" pitchFamily="34" charset="-120"/>
              </a:rPr>
              <a:t>Decongestion, not cosmetic creatinine watching</a:t>
            </a:r>
            <a:endParaRPr lang="en-US" sz="1800" dirty="0"/>
          </a:p>
        </p:txBody>
      </p:sp>
      <p:sp>
        <p:nvSpPr>
          <p:cNvPr id="6" name="Shape 4"/>
          <p:cNvSpPr/>
          <p:nvPr/>
        </p:nvSpPr>
        <p:spPr>
          <a:xfrm>
            <a:off x="822960" y="3246120"/>
            <a:ext cx="914400" cy="36576"/>
          </a:xfrm>
          <a:prstGeom prst="rect">
            <a:avLst/>
          </a:prstGeom>
          <a:solidFill>
            <a:srgbClr val="E76F51"/>
          </a:solidFill>
          <a:ln/>
        </p:spPr>
      </p:sp>
      <p:sp>
        <p:nvSpPr>
          <p:cNvPr id="7" name="Text 5"/>
          <p:cNvSpPr/>
          <p:nvPr/>
        </p:nvSpPr>
        <p:spPr>
          <a:xfrm>
            <a:off x="822960" y="3383280"/>
            <a:ext cx="7772400" cy="457200"/>
          </a:xfrm>
          <a:prstGeom prst="rect">
            <a:avLst/>
          </a:prstGeom>
          <a:noFill/>
          <a:ln/>
        </p:spPr>
        <p:txBody>
          <a:bodyPr wrap="square" lIns="0" tIns="0" rIns="0" bIns="0" rtlCol="0" anchor="ctr"/>
          <a:lstStyle/>
          <a:p>
            <a:pPr indent="0" marL="0">
              <a:buNone/>
            </a:pPr>
            <a:r>
              <a:rPr lang="en-US" sz="1300" dirty="0">
                <a:solidFill>
                  <a:srgbClr val="EBF3F7"/>
                </a:solidFill>
                <a:latin typeface="Calibri" pitchFamily="34" charset="0"/>
                <a:ea typeface="Calibri" pitchFamily="34" charset="-122"/>
                <a:cs typeface="Calibri" pitchFamily="34" charset="-120"/>
              </a:rPr>
              <a:t>Cr rise during decongestion is usually hemodynamic — under-diuresing is the bigger danger.</a:t>
            </a:r>
            <a:endParaRPr lang="en-US" sz="1300" dirty="0"/>
          </a:p>
        </p:txBody>
      </p:sp>
      <p:sp>
        <p:nvSpPr>
          <p:cNvPr id="8" name="Text 6"/>
          <p:cNvSpPr/>
          <p:nvPr/>
        </p:nvSpPr>
        <p:spPr>
          <a:xfrm>
            <a:off x="822960" y="4434840"/>
            <a:ext cx="7315200" cy="274320"/>
          </a:xfrm>
          <a:prstGeom prst="rect">
            <a:avLst/>
          </a:prstGeom>
          <a:noFill/>
          <a:ln/>
        </p:spPr>
        <p:txBody>
          <a:bodyPr wrap="square" lIns="0" tIns="0" rIns="0" bIns="0" rtlCol="0" anchor="ctr"/>
          <a:lstStyle/>
          <a:p>
            <a:pPr indent="0" marL="0">
              <a:buNone/>
            </a:pPr>
            <a:r>
              <a:rPr lang="en-US" sz="1100" dirty="0">
                <a:solidFill>
                  <a:srgbClr val="EBF3F7"/>
                </a:solidFill>
                <a:latin typeface="Calibri" pitchFamily="34" charset="0"/>
                <a:ea typeface="Calibri" pitchFamily="34" charset="-122"/>
                <a:cs typeface="Calibri" pitchFamily="34" charset="-120"/>
              </a:rPr>
              <a:t>Dr. Cheng  •  Premier Nephrology Medical Group</a:t>
            </a:r>
            <a:endParaRPr lang="en-US" sz="1100" dirty="0"/>
          </a:p>
        </p:txBody>
      </p:sp>
      <p:sp>
        <p:nvSpPr>
          <p:cNvPr id="9" name="Text 7"/>
          <p:cNvSpPr/>
          <p:nvPr/>
        </p:nvSpPr>
        <p:spPr>
          <a:xfrm>
            <a:off x="822960" y="4709160"/>
            <a:ext cx="7315200" cy="274320"/>
          </a:xfrm>
          <a:prstGeom prst="rect">
            <a:avLst/>
          </a:prstGeom>
          <a:noFill/>
          <a:ln/>
        </p:spPr>
        <p:txBody>
          <a:bodyPr wrap="square" lIns="0" tIns="0" rIns="0" bIns="0" rtlCol="0" anchor="ctr"/>
          <a:lstStyle/>
          <a:p>
            <a:pPr indent="0" marL="0">
              <a:buNone/>
            </a:pPr>
            <a:r>
              <a:rPr lang="en-US" sz="1000" i="1" dirty="0">
                <a:solidFill>
                  <a:srgbClr val="1C7293"/>
                </a:solidFill>
                <a:latin typeface="Calibri" pitchFamily="34" charset="0"/>
                <a:ea typeface="Calibri" pitchFamily="34" charset="-122"/>
                <a:cs typeface="Calibri" pitchFamily="34" charset="-120"/>
              </a:rPr>
              <a:t>MS3/MS4 rotation teaching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F0"/>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65A82"/>
          </a:solidFill>
          <a:ln/>
        </p:spPr>
      </p:sp>
      <p:sp>
        <p:nvSpPr>
          <p:cNvPr id="3" name="Text 1"/>
          <p:cNvSpPr/>
          <p:nvPr/>
        </p:nvSpPr>
        <p:spPr>
          <a:xfrm>
            <a:off x="365760" y="164592"/>
            <a:ext cx="548640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Cardiorenal Syndrome</a:t>
            </a:r>
            <a:endParaRPr lang="en-US" sz="1000" dirty="0"/>
          </a:p>
        </p:txBody>
      </p:sp>
      <p:sp>
        <p:nvSpPr>
          <p:cNvPr id="4" name="Text 2"/>
          <p:cNvSpPr/>
          <p:nvPr/>
        </p:nvSpPr>
        <p:spPr>
          <a:xfrm>
            <a:off x="7680960" y="164592"/>
            <a:ext cx="10972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 / 12</a:t>
            </a:r>
            <a:endParaRPr lang="en-US" sz="1000" dirty="0"/>
          </a:p>
        </p:txBody>
      </p:sp>
      <p:sp>
        <p:nvSpPr>
          <p:cNvPr id="5" name="Text 3"/>
          <p:cNvSpPr/>
          <p:nvPr/>
        </p:nvSpPr>
        <p:spPr>
          <a:xfrm>
            <a:off x="365760" y="411480"/>
            <a:ext cx="8412480" cy="50292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Why we get consulted</a:t>
            </a:r>
            <a:endParaRPr lang="en-US" sz="2400" dirty="0"/>
          </a:p>
        </p:txBody>
      </p:sp>
      <p:sp>
        <p:nvSpPr>
          <p:cNvPr id="6" name="Text 4"/>
          <p:cNvSpPr/>
          <p:nvPr/>
        </p:nvSpPr>
        <p:spPr>
          <a:xfrm>
            <a:off x="365760" y="932688"/>
            <a:ext cx="8412480" cy="256032"/>
          </a:xfrm>
          <a:prstGeom prst="rect">
            <a:avLst/>
          </a:prstGeom>
          <a:noFill/>
          <a:ln/>
        </p:spPr>
        <p:txBody>
          <a:bodyPr wrap="square" lIns="0" tIns="0" rIns="0" bIns="0"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Rising Cr during diuresis — 'should we back off?'</a:t>
            </a:r>
            <a:endParaRPr lang="en-US" sz="1200" dirty="0"/>
          </a:p>
        </p:txBody>
      </p:sp>
      <p:sp>
        <p:nvSpPr>
          <p:cNvPr id="7" name="Shape 5"/>
          <p:cNvSpPr/>
          <p:nvPr/>
        </p:nvSpPr>
        <p:spPr>
          <a:xfrm>
            <a:off x="365760" y="4846320"/>
            <a:ext cx="8412480" cy="0"/>
          </a:xfrm>
          <a:prstGeom prst="line">
            <a:avLst/>
          </a:prstGeom>
          <a:noFill/>
          <a:ln w="6350">
            <a:solidFill>
              <a:srgbClr val="CBD5E1"/>
            </a:solidFill>
            <a:prstDash val="solid"/>
          </a:ln>
        </p:spPr>
      </p:sp>
      <p:sp>
        <p:nvSpPr>
          <p:cNvPr id="8" name="Text 6"/>
          <p:cNvSpPr/>
          <p:nvPr/>
        </p:nvSpPr>
        <p:spPr>
          <a:xfrm>
            <a:off x="365760" y="4901184"/>
            <a:ext cx="8412480" cy="2286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ACC/AHA 2022 HF guideline. UpToDate: Cardiorenal syndrome (2026).</a:t>
            </a:r>
            <a:endParaRPr lang="en-US" sz="850" dirty="0"/>
          </a:p>
        </p:txBody>
      </p:sp>
      <p:sp>
        <p:nvSpPr>
          <p:cNvPr id="9" name="Shape 7"/>
          <p:cNvSpPr/>
          <p:nvPr/>
        </p:nvSpPr>
        <p:spPr>
          <a:xfrm>
            <a:off x="365760" y="1280160"/>
            <a:ext cx="4114800" cy="3291840"/>
          </a:xfrm>
          <a:prstGeom prst="rect">
            <a:avLst/>
          </a:prstGeom>
          <a:solidFill>
            <a:srgbClr val="FFFFFF"/>
          </a:solidFill>
          <a:ln w="6350">
            <a:solidFill>
              <a:srgbClr val="CBD5E1"/>
            </a:solidFill>
            <a:prstDash val="solid"/>
          </a:ln>
          <a:effectLst>
            <a:outerShdw sx="100000" sy="100000" kx="0" ky="0" algn="bl" rotWithShape="0" blurRad="76200" dist="12700" dir="5400000">
              <a:srgbClr val="000000">
                <a:alpha val="6000"/>
              </a:srgbClr>
            </a:outerShdw>
          </a:effectLst>
        </p:spPr>
      </p:sp>
      <p:sp>
        <p:nvSpPr>
          <p:cNvPr id="10" name="Shape 8"/>
          <p:cNvSpPr/>
          <p:nvPr/>
        </p:nvSpPr>
        <p:spPr>
          <a:xfrm>
            <a:off x="365760" y="1280160"/>
            <a:ext cx="73152" cy="3291840"/>
          </a:xfrm>
          <a:prstGeom prst="rect">
            <a:avLst/>
          </a:prstGeom>
          <a:solidFill>
            <a:srgbClr val="065A82"/>
          </a:solidFill>
          <a:ln/>
        </p:spPr>
      </p:sp>
      <p:sp>
        <p:nvSpPr>
          <p:cNvPr id="11" name="Text 9"/>
          <p:cNvSpPr/>
          <p:nvPr/>
        </p:nvSpPr>
        <p:spPr>
          <a:xfrm>
            <a:off x="548640" y="1353312"/>
            <a:ext cx="3840480"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CONSULT TRIGGERS</a:t>
            </a:r>
            <a:endParaRPr lang="en-US" sz="1150" dirty="0"/>
          </a:p>
        </p:txBody>
      </p:sp>
      <p:sp>
        <p:nvSpPr>
          <p:cNvPr id="12" name="Text 10"/>
          <p:cNvSpPr/>
          <p:nvPr/>
        </p:nvSpPr>
        <p:spPr>
          <a:xfrm>
            <a:off x="640080" y="1737360"/>
            <a:ext cx="3749040" cy="2743200"/>
          </a:xfrm>
          <a:prstGeom prst="rect">
            <a:avLst/>
          </a:prstGeom>
          <a:noFill/>
          <a:ln/>
        </p:spPr>
        <p:txBody>
          <a:bodyPr wrap="square" lIns="0" tIns="0" rIns="0" bIns="0" rtlCol="0" anchor="t"/>
          <a:lstStyle/>
          <a:p>
            <a:pPr>
              <a:spcAft>
                <a:spcPts val="700"/>
              </a:spcAft>
            </a:pPr>
            <a:r>
              <a:rPr lang="en-US" sz="1200" dirty="0">
                <a:solidFill>
                  <a:srgbClr val="1E293B"/>
                </a:solidFill>
                <a:latin typeface="Calibri" pitchFamily="34" charset="0"/>
                <a:ea typeface="Calibri" pitchFamily="34" charset="-122"/>
                <a:cs typeface="Calibri" pitchFamily="34" charset="-120"/>
              </a:rPr>
              <a:t>Rising Cr during HF decongestion</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Diuretic resistance</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Hypotension limiting GDMT</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Refractory volume overload</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KRT for volume (rare)</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Ultrafiltration request</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Balancing RAAS / SGLT2i in CKD+HF</a:t>
            </a:r>
            <a:endParaRPr lang="en-US" sz="1200" dirty="0"/>
          </a:p>
        </p:txBody>
      </p:sp>
      <p:sp>
        <p:nvSpPr>
          <p:cNvPr id="13" name="Shape 11"/>
          <p:cNvSpPr/>
          <p:nvPr/>
        </p:nvSpPr>
        <p:spPr>
          <a:xfrm>
            <a:off x="4754880" y="1280160"/>
            <a:ext cx="4023360" cy="3291840"/>
          </a:xfrm>
          <a:prstGeom prst="rect">
            <a:avLst/>
          </a:prstGeom>
          <a:solidFill>
            <a:srgbClr val="EBF3F7"/>
          </a:solidFill>
          <a:ln w="12700">
            <a:solidFill>
              <a:srgbClr val="1C7293"/>
            </a:solidFill>
            <a:prstDash val="solid"/>
          </a:ln>
        </p:spPr>
      </p:sp>
      <p:sp>
        <p:nvSpPr>
          <p:cNvPr id="14" name="Shape 12"/>
          <p:cNvSpPr/>
          <p:nvPr/>
        </p:nvSpPr>
        <p:spPr>
          <a:xfrm>
            <a:off x="4754880" y="1280160"/>
            <a:ext cx="4023360" cy="73152"/>
          </a:xfrm>
          <a:prstGeom prst="rect">
            <a:avLst/>
          </a:prstGeom>
          <a:solidFill>
            <a:srgbClr val="E76F51"/>
          </a:solidFill>
          <a:ln/>
        </p:spPr>
      </p:sp>
      <p:sp>
        <p:nvSpPr>
          <p:cNvPr id="15" name="Text 13"/>
          <p:cNvSpPr/>
          <p:nvPr/>
        </p:nvSpPr>
        <p:spPr>
          <a:xfrm>
            <a:off x="4983480" y="1444752"/>
            <a:ext cx="3566160" cy="274320"/>
          </a:xfrm>
          <a:prstGeom prst="rect">
            <a:avLst/>
          </a:prstGeom>
          <a:noFill/>
          <a:ln/>
        </p:spPr>
        <p:txBody>
          <a:bodyPr wrap="square" lIns="0" tIns="0" rIns="0" bIns="0" rtlCol="0" anchor="ctr"/>
          <a:lstStyle/>
          <a:p>
            <a:pPr indent="0" marL="0">
              <a:buNone/>
            </a:pPr>
            <a:r>
              <a:rPr lang="en-US" sz="1000" b="1" spc="600" kern="0" dirty="0">
                <a:solidFill>
                  <a:srgbClr val="E76F51"/>
                </a:solidFill>
                <a:latin typeface="Calibri" pitchFamily="34" charset="0"/>
                <a:ea typeface="Calibri" pitchFamily="34" charset="-122"/>
                <a:cs typeface="Calibri" pitchFamily="34" charset="-120"/>
              </a:rPr>
              <a:t>TEACHING PEARL</a:t>
            </a:r>
            <a:endParaRPr lang="en-US" sz="1000" dirty="0"/>
          </a:p>
        </p:txBody>
      </p:sp>
      <p:sp>
        <p:nvSpPr>
          <p:cNvPr id="16" name="Text 14"/>
          <p:cNvSpPr/>
          <p:nvPr/>
        </p:nvSpPr>
        <p:spPr>
          <a:xfrm>
            <a:off x="4983480" y="1737360"/>
            <a:ext cx="3566160" cy="2743200"/>
          </a:xfrm>
          <a:prstGeom prst="rect">
            <a:avLst/>
          </a:prstGeom>
          <a:noFill/>
          <a:ln/>
        </p:spPr>
        <p:txBody>
          <a:bodyPr wrap="square" lIns="0" tIns="0" rIns="0" bIns="0" rtlCol="0" anchor="t"/>
          <a:lstStyle/>
          <a:p>
            <a:pPr indent="0" marL="0">
              <a:buNone/>
            </a:pPr>
            <a:r>
              <a:rPr lang="en-US" sz="1450" i="1" dirty="0">
                <a:solidFill>
                  <a:srgbClr val="033E5C"/>
                </a:solidFill>
                <a:latin typeface="Georgia" pitchFamily="34" charset="0"/>
                <a:ea typeface="Georgia" pitchFamily="34" charset="-122"/>
                <a:cs typeface="Georgia" pitchFamily="34" charset="-120"/>
              </a:rPr>
              <a:t>Cr bump during active decongestion (weight down, BNP down, hct up) is benign hemodynamic. Under-diuresis is worse than a 20–30% Cr rise.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F0"/>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65A82"/>
          </a:solidFill>
          <a:ln/>
        </p:spPr>
      </p:sp>
      <p:sp>
        <p:nvSpPr>
          <p:cNvPr id="3" name="Text 1"/>
          <p:cNvSpPr/>
          <p:nvPr/>
        </p:nvSpPr>
        <p:spPr>
          <a:xfrm>
            <a:off x="365760" y="164592"/>
            <a:ext cx="548640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Cardiorenal Syndrome</a:t>
            </a:r>
            <a:endParaRPr lang="en-US" sz="1000" dirty="0"/>
          </a:p>
        </p:txBody>
      </p:sp>
      <p:sp>
        <p:nvSpPr>
          <p:cNvPr id="4" name="Text 2"/>
          <p:cNvSpPr/>
          <p:nvPr/>
        </p:nvSpPr>
        <p:spPr>
          <a:xfrm>
            <a:off x="7680960" y="164592"/>
            <a:ext cx="10972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 / 12</a:t>
            </a:r>
            <a:endParaRPr lang="en-US" sz="1000" dirty="0"/>
          </a:p>
        </p:txBody>
      </p:sp>
      <p:sp>
        <p:nvSpPr>
          <p:cNvPr id="5" name="Text 3"/>
          <p:cNvSpPr/>
          <p:nvPr/>
        </p:nvSpPr>
        <p:spPr>
          <a:xfrm>
            <a:off x="365760" y="411480"/>
            <a:ext cx="8412480" cy="50292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Ronco classification (Types 1–5)</a:t>
            </a:r>
            <a:endParaRPr lang="en-US" sz="2400" dirty="0"/>
          </a:p>
        </p:txBody>
      </p:sp>
      <p:sp>
        <p:nvSpPr>
          <p:cNvPr id="6" name="Text 4"/>
          <p:cNvSpPr/>
          <p:nvPr/>
        </p:nvSpPr>
        <p:spPr>
          <a:xfrm>
            <a:off x="365760" y="932688"/>
            <a:ext cx="8412480" cy="256032"/>
          </a:xfrm>
          <a:prstGeom prst="rect">
            <a:avLst/>
          </a:prstGeom>
          <a:noFill/>
          <a:ln/>
        </p:spPr>
        <p:txBody>
          <a:bodyPr wrap="square" lIns="0" tIns="0" rIns="0" bIns="0"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Useful framework but don't get hung up — Type 1 and 2 are where the action is.</a:t>
            </a:r>
            <a:endParaRPr lang="en-US" sz="1200" dirty="0"/>
          </a:p>
        </p:txBody>
      </p:sp>
      <p:sp>
        <p:nvSpPr>
          <p:cNvPr id="7" name="Shape 5"/>
          <p:cNvSpPr/>
          <p:nvPr/>
        </p:nvSpPr>
        <p:spPr>
          <a:xfrm>
            <a:off x="365760" y="4846320"/>
            <a:ext cx="8412480" cy="0"/>
          </a:xfrm>
          <a:prstGeom prst="line">
            <a:avLst/>
          </a:prstGeom>
          <a:noFill/>
          <a:ln w="6350">
            <a:solidFill>
              <a:srgbClr val="CBD5E1"/>
            </a:solidFill>
            <a:prstDash val="solid"/>
          </a:ln>
        </p:spPr>
      </p:sp>
      <p:sp>
        <p:nvSpPr>
          <p:cNvPr id="8" name="Text 6"/>
          <p:cNvSpPr/>
          <p:nvPr/>
        </p:nvSpPr>
        <p:spPr>
          <a:xfrm>
            <a:off x="365760" y="4901184"/>
            <a:ext cx="8412480" cy="2286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Ronco et al. JACC 2008.</a:t>
            </a:r>
            <a:endParaRPr lang="en-US" sz="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822960"/>
                <a:gridCol w="2011680"/>
                <a:gridCol w="5577840"/>
              </a:tblGrid>
              <a:tr h="347472">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Name</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Scenario</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r>
              <a:tr h="457200">
                <a:tc>
                  <a:txBody>
                    <a:bodyPr/>
                    <a:lstStyle/>
                    <a:p>
                      <a:pPr algn="ctr" indent="0" marL="0">
                        <a:buNone/>
                      </a:pPr>
                      <a:r>
                        <a:rPr lang="en-US" sz="2000" b="1" dirty="0">
                          <a:solidFill>
                            <a:srgbClr val="E76F51"/>
                          </a:solidFill>
                          <a:latin typeface="Georgia" pitchFamily="34" charset="0"/>
                          <a:ea typeface="Georgia" pitchFamily="34" charset="-122"/>
                          <a:cs typeface="Georgia" pitchFamily="34" charset="-120"/>
                        </a:rPr>
                        <a:t>1</a:t>
                      </a:r>
                      <a:endParaRPr lang="en-US" sz="2000" dirty="0">
                        <a:latin typeface="Georgia" charset="0"/>
                        <a:ea typeface="Georgia" charset="0"/>
                        <a:cs typeface="Georgia"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Acute cardiorenal</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Acute decompensated HF → AKI.  The inpatient consult.</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57200">
                <a:tc>
                  <a:txBody>
                    <a:bodyPr/>
                    <a:lstStyle/>
                    <a:p>
                      <a:pPr algn="ctr" indent="0" marL="0">
                        <a:buNone/>
                      </a:pPr>
                      <a:r>
                        <a:rPr lang="en-US" sz="2000" b="1" dirty="0">
                          <a:solidFill>
                            <a:srgbClr val="065A82"/>
                          </a:solidFill>
                          <a:latin typeface="Georgia" pitchFamily="34" charset="0"/>
                          <a:ea typeface="Georgia" pitchFamily="34" charset="-122"/>
                          <a:cs typeface="Georgia" pitchFamily="34" charset="-120"/>
                        </a:rPr>
                        <a:t>2</a:t>
                      </a:r>
                      <a:endParaRPr lang="en-US" sz="2000" dirty="0">
                        <a:latin typeface="Georgia" charset="0"/>
                        <a:ea typeface="Georgia" charset="0"/>
                        <a:cs typeface="Georgia"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Chronic cardiorenal</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Chronic HF → CKD.  The outpatient problem.</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502920">
                <a:tc>
                  <a:txBody>
                    <a:bodyPr/>
                    <a:lstStyle/>
                    <a:p>
                      <a:pPr algn="ctr" indent="0" marL="0">
                        <a:buNone/>
                      </a:pPr>
                      <a:r>
                        <a:rPr lang="en-US" sz="2000" b="1" dirty="0">
                          <a:solidFill>
                            <a:srgbClr val="1C7293"/>
                          </a:solidFill>
                          <a:latin typeface="Georgia" pitchFamily="34" charset="0"/>
                          <a:ea typeface="Georgia" pitchFamily="34" charset="-122"/>
                          <a:cs typeface="Georgia" pitchFamily="34" charset="-120"/>
                        </a:rPr>
                        <a:t>3</a:t>
                      </a:r>
                      <a:endParaRPr lang="en-US" sz="2000" dirty="0">
                        <a:latin typeface="Georgia" charset="0"/>
                        <a:ea typeface="Georgia" charset="0"/>
                        <a:cs typeface="Georgia"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Acute renocardiac</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AKI → cardiac dysfunction (volume overload, K+, acidosis → arrhythmia).</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502920">
                <a:tc>
                  <a:txBody>
                    <a:bodyPr/>
                    <a:lstStyle/>
                    <a:p>
                      <a:pPr algn="ctr" indent="0" marL="0">
                        <a:buNone/>
                      </a:pPr>
                      <a:r>
                        <a:rPr lang="en-US" sz="2000" b="1" dirty="0">
                          <a:solidFill>
                            <a:srgbClr val="1C7293"/>
                          </a:solidFill>
                          <a:latin typeface="Georgia" pitchFamily="34" charset="0"/>
                          <a:ea typeface="Georgia" pitchFamily="34" charset="-122"/>
                          <a:cs typeface="Georgia" pitchFamily="34" charset="-120"/>
                        </a:rPr>
                        <a:t>4</a:t>
                      </a:r>
                      <a:endParaRPr lang="en-US" sz="2000" dirty="0">
                        <a:latin typeface="Georgia" charset="0"/>
                        <a:ea typeface="Georgia" charset="0"/>
                        <a:cs typeface="Georgia"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Chronic renocardiac</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CKD → CV disease (accelerated atherosclerosis, LVH, CKD-MBD).</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502920">
                <a:tc>
                  <a:txBody>
                    <a:bodyPr/>
                    <a:lstStyle/>
                    <a:p>
                      <a:pPr algn="ctr" indent="0" marL="0">
                        <a:buNone/>
                      </a:pPr>
                      <a:r>
                        <a:rPr lang="en-US" sz="2000" b="1" dirty="0">
                          <a:solidFill>
                            <a:srgbClr val="BC6C25"/>
                          </a:solidFill>
                          <a:latin typeface="Georgia" pitchFamily="34" charset="0"/>
                          <a:ea typeface="Georgia" pitchFamily="34" charset="-122"/>
                          <a:cs typeface="Georgia" pitchFamily="34" charset="-120"/>
                        </a:rPr>
                        <a:t>5</a:t>
                      </a:r>
                      <a:endParaRPr lang="en-US" sz="2000" dirty="0">
                        <a:latin typeface="Georgia" charset="0"/>
                        <a:ea typeface="Georgia" charset="0"/>
                        <a:cs typeface="Georgia"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Secondary</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Systemic process hits both (sepsis, amyloid, SLE, DM, sarcoid).</a:t>
                      </a:r>
                      <a:endParaRPr lang="en-US" sz="10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F0"/>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65A82"/>
          </a:solidFill>
          <a:ln/>
        </p:spPr>
      </p:sp>
      <p:sp>
        <p:nvSpPr>
          <p:cNvPr id="3" name="Text 1"/>
          <p:cNvSpPr/>
          <p:nvPr/>
        </p:nvSpPr>
        <p:spPr>
          <a:xfrm>
            <a:off x="365760" y="164592"/>
            <a:ext cx="548640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Cardiorenal Syndrome</a:t>
            </a:r>
            <a:endParaRPr lang="en-US" sz="1000" dirty="0"/>
          </a:p>
        </p:txBody>
      </p:sp>
      <p:sp>
        <p:nvSpPr>
          <p:cNvPr id="4" name="Text 2"/>
          <p:cNvSpPr/>
          <p:nvPr/>
        </p:nvSpPr>
        <p:spPr>
          <a:xfrm>
            <a:off x="7680960" y="164592"/>
            <a:ext cx="10972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 / 12</a:t>
            </a:r>
            <a:endParaRPr lang="en-US" sz="1000" dirty="0"/>
          </a:p>
        </p:txBody>
      </p:sp>
      <p:sp>
        <p:nvSpPr>
          <p:cNvPr id="5" name="Text 3"/>
          <p:cNvSpPr/>
          <p:nvPr/>
        </p:nvSpPr>
        <p:spPr>
          <a:xfrm>
            <a:off x="365760" y="411480"/>
            <a:ext cx="8412480" cy="50292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Why the kidney fails in HF</a:t>
            </a:r>
            <a:endParaRPr lang="en-US" sz="2400" dirty="0"/>
          </a:p>
        </p:txBody>
      </p:sp>
      <p:sp>
        <p:nvSpPr>
          <p:cNvPr id="6" name="Text 4"/>
          <p:cNvSpPr/>
          <p:nvPr/>
        </p:nvSpPr>
        <p:spPr>
          <a:xfrm>
            <a:off x="365760" y="932688"/>
            <a:ext cx="8412480" cy="256032"/>
          </a:xfrm>
          <a:prstGeom prst="rect">
            <a:avLst/>
          </a:prstGeom>
          <a:noFill/>
          <a:ln/>
        </p:spPr>
        <p:txBody>
          <a:bodyPr wrap="square" lIns="0" tIns="0" rIns="0" bIns="0"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It's not just low forward flow — venous congestion is the bigger driver.</a:t>
            </a:r>
            <a:endParaRPr lang="en-US" sz="1200" dirty="0"/>
          </a:p>
        </p:txBody>
      </p:sp>
      <p:sp>
        <p:nvSpPr>
          <p:cNvPr id="7" name="Shape 5"/>
          <p:cNvSpPr/>
          <p:nvPr/>
        </p:nvSpPr>
        <p:spPr>
          <a:xfrm>
            <a:off x="365760" y="4846320"/>
            <a:ext cx="8412480" cy="0"/>
          </a:xfrm>
          <a:prstGeom prst="line">
            <a:avLst/>
          </a:prstGeom>
          <a:noFill/>
          <a:ln w="6350">
            <a:solidFill>
              <a:srgbClr val="CBD5E1"/>
            </a:solidFill>
            <a:prstDash val="solid"/>
          </a:ln>
        </p:spPr>
      </p:sp>
      <p:sp>
        <p:nvSpPr>
          <p:cNvPr id="8" name="Text 6"/>
          <p:cNvSpPr/>
          <p:nvPr/>
        </p:nvSpPr>
        <p:spPr>
          <a:xfrm>
            <a:off x="365760" y="4901184"/>
            <a:ext cx="8412480" cy="2286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Mullens et al. JACC 2009. UpToDate: Cardiorenal syndrome.</a:t>
            </a:r>
            <a:endParaRPr lang="en-US" sz="850" dirty="0"/>
          </a:p>
        </p:txBody>
      </p:sp>
      <p:sp>
        <p:nvSpPr>
          <p:cNvPr id="9" name="Shape 7"/>
          <p:cNvSpPr/>
          <p:nvPr/>
        </p:nvSpPr>
        <p:spPr>
          <a:xfrm>
            <a:off x="365760" y="1280160"/>
            <a:ext cx="4114800" cy="1554480"/>
          </a:xfrm>
          <a:prstGeom prst="rect">
            <a:avLst/>
          </a:prstGeom>
          <a:solidFill>
            <a:srgbClr val="FFFFFF"/>
          </a:solidFill>
          <a:ln w="6350">
            <a:solidFill>
              <a:srgbClr val="CBD5E1"/>
            </a:solidFill>
            <a:prstDash val="solid"/>
          </a:ln>
          <a:effectLst>
            <a:outerShdw sx="100000" sy="100000" kx="0" ky="0" algn="bl" rotWithShape="0" blurRad="76200" dist="12700" dir="5400000">
              <a:srgbClr val="000000">
                <a:alpha val="6000"/>
              </a:srgbClr>
            </a:outerShdw>
          </a:effectLst>
        </p:spPr>
      </p:sp>
      <p:sp>
        <p:nvSpPr>
          <p:cNvPr id="10" name="Shape 8"/>
          <p:cNvSpPr/>
          <p:nvPr/>
        </p:nvSpPr>
        <p:spPr>
          <a:xfrm>
            <a:off x="365760" y="1280160"/>
            <a:ext cx="73152" cy="1554480"/>
          </a:xfrm>
          <a:prstGeom prst="rect">
            <a:avLst/>
          </a:prstGeom>
          <a:solidFill>
            <a:srgbClr val="E76F51"/>
          </a:solidFill>
          <a:ln/>
        </p:spPr>
      </p:sp>
      <p:sp>
        <p:nvSpPr>
          <p:cNvPr id="11" name="Text 9"/>
          <p:cNvSpPr/>
          <p:nvPr/>
        </p:nvSpPr>
        <p:spPr>
          <a:xfrm>
            <a:off x="548640" y="1353312"/>
            <a:ext cx="3840480"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VENOUS CONGESTION  (main driver)</a:t>
            </a:r>
            <a:endParaRPr lang="en-US" sz="1150" dirty="0"/>
          </a:p>
        </p:txBody>
      </p:sp>
      <p:sp>
        <p:nvSpPr>
          <p:cNvPr id="12" name="Text 10"/>
          <p:cNvSpPr/>
          <p:nvPr/>
        </p:nvSpPr>
        <p:spPr>
          <a:xfrm>
            <a:off x="548640" y="1645920"/>
            <a:ext cx="3840480" cy="1143000"/>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Elevated CVP → ↑ renal venous pressure → ↓ net filtration pressure. Strong correlation with AKI in acute decompensated heart failure (ADHF). Decongestion restores GFR even if cardiac output unchanged.</a:t>
            </a:r>
            <a:endParaRPr lang="en-US" sz="1100" dirty="0"/>
          </a:p>
        </p:txBody>
      </p:sp>
      <p:sp>
        <p:nvSpPr>
          <p:cNvPr id="13" name="Shape 11"/>
          <p:cNvSpPr/>
          <p:nvPr/>
        </p:nvSpPr>
        <p:spPr>
          <a:xfrm>
            <a:off x="4617720" y="1280160"/>
            <a:ext cx="4114800" cy="1554480"/>
          </a:xfrm>
          <a:prstGeom prst="rect">
            <a:avLst/>
          </a:prstGeom>
          <a:solidFill>
            <a:srgbClr val="FFFFFF"/>
          </a:solidFill>
          <a:ln w="6350">
            <a:solidFill>
              <a:srgbClr val="CBD5E1"/>
            </a:solidFill>
            <a:prstDash val="solid"/>
          </a:ln>
          <a:effectLst>
            <a:outerShdw sx="100000" sy="100000" kx="0" ky="0" algn="bl" rotWithShape="0" blurRad="76200" dist="12700" dir="5400000">
              <a:srgbClr val="000000">
                <a:alpha val="6000"/>
              </a:srgbClr>
            </a:outerShdw>
          </a:effectLst>
        </p:spPr>
      </p:sp>
      <p:sp>
        <p:nvSpPr>
          <p:cNvPr id="14" name="Shape 12"/>
          <p:cNvSpPr/>
          <p:nvPr/>
        </p:nvSpPr>
        <p:spPr>
          <a:xfrm>
            <a:off x="4617720" y="1280160"/>
            <a:ext cx="73152" cy="1554480"/>
          </a:xfrm>
          <a:prstGeom prst="rect">
            <a:avLst/>
          </a:prstGeom>
          <a:solidFill>
            <a:srgbClr val="065A82"/>
          </a:solidFill>
          <a:ln/>
        </p:spPr>
      </p:sp>
      <p:sp>
        <p:nvSpPr>
          <p:cNvPr id="15" name="Text 13"/>
          <p:cNvSpPr/>
          <p:nvPr/>
        </p:nvSpPr>
        <p:spPr>
          <a:xfrm>
            <a:off x="4800600" y="1353312"/>
            <a:ext cx="3840480"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LOW CARDIAC OUTPUT</a:t>
            </a:r>
            <a:endParaRPr lang="en-US" sz="1150" dirty="0"/>
          </a:p>
        </p:txBody>
      </p:sp>
      <p:sp>
        <p:nvSpPr>
          <p:cNvPr id="16" name="Text 14"/>
          <p:cNvSpPr/>
          <p:nvPr/>
        </p:nvSpPr>
        <p:spPr>
          <a:xfrm>
            <a:off x="4800600" y="1645920"/>
            <a:ext cx="3840480" cy="1143000"/>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Falls primary role. Most HF patients presenting with AKI have normal or near-normal CO. Relevant in cardiogenic shock.</a:t>
            </a:r>
            <a:endParaRPr lang="en-US" sz="1100" dirty="0"/>
          </a:p>
        </p:txBody>
      </p:sp>
      <p:sp>
        <p:nvSpPr>
          <p:cNvPr id="17" name="Shape 15"/>
          <p:cNvSpPr/>
          <p:nvPr/>
        </p:nvSpPr>
        <p:spPr>
          <a:xfrm>
            <a:off x="365760" y="2971800"/>
            <a:ext cx="4114800" cy="1554480"/>
          </a:xfrm>
          <a:prstGeom prst="rect">
            <a:avLst/>
          </a:prstGeom>
          <a:solidFill>
            <a:srgbClr val="FFFFFF"/>
          </a:solidFill>
          <a:ln w="6350">
            <a:solidFill>
              <a:srgbClr val="CBD5E1"/>
            </a:solidFill>
            <a:prstDash val="solid"/>
          </a:ln>
          <a:effectLst>
            <a:outerShdw sx="100000" sy="100000" kx="0" ky="0" algn="bl" rotWithShape="0" blurRad="76200" dist="12700" dir="5400000">
              <a:srgbClr val="000000">
                <a:alpha val="6000"/>
              </a:srgbClr>
            </a:outerShdw>
          </a:effectLst>
        </p:spPr>
      </p:sp>
      <p:sp>
        <p:nvSpPr>
          <p:cNvPr id="18" name="Shape 16"/>
          <p:cNvSpPr/>
          <p:nvPr/>
        </p:nvSpPr>
        <p:spPr>
          <a:xfrm>
            <a:off x="365760" y="2971800"/>
            <a:ext cx="73152" cy="1554480"/>
          </a:xfrm>
          <a:prstGeom prst="rect">
            <a:avLst/>
          </a:prstGeom>
          <a:solidFill>
            <a:srgbClr val="2C5F2D"/>
          </a:solidFill>
          <a:ln/>
        </p:spPr>
      </p:sp>
      <p:sp>
        <p:nvSpPr>
          <p:cNvPr id="19" name="Text 17"/>
          <p:cNvSpPr/>
          <p:nvPr/>
        </p:nvSpPr>
        <p:spPr>
          <a:xfrm>
            <a:off x="548640" y="3044952"/>
            <a:ext cx="3840480"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NEUROHORMONAL ACTIVATION</a:t>
            </a:r>
            <a:endParaRPr lang="en-US" sz="1150" dirty="0"/>
          </a:p>
        </p:txBody>
      </p:sp>
      <p:sp>
        <p:nvSpPr>
          <p:cNvPr id="20" name="Text 18"/>
          <p:cNvSpPr/>
          <p:nvPr/>
        </p:nvSpPr>
        <p:spPr>
          <a:xfrm>
            <a:off x="548640" y="3337560"/>
            <a:ext cx="3840480" cy="1143000"/>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RAAS, sympathetic, vasopressin → Na/water retention + efferent vasoconstriction. ACEi/ARB/ARNi improve outcomes; a small hemodynamic Cr rise can be acceptable.</a:t>
            </a:r>
            <a:endParaRPr lang="en-US" sz="1100" dirty="0"/>
          </a:p>
        </p:txBody>
      </p:sp>
      <p:sp>
        <p:nvSpPr>
          <p:cNvPr id="21" name="Shape 19"/>
          <p:cNvSpPr/>
          <p:nvPr/>
        </p:nvSpPr>
        <p:spPr>
          <a:xfrm>
            <a:off x="4617720" y="2971800"/>
            <a:ext cx="4114800" cy="1554480"/>
          </a:xfrm>
          <a:prstGeom prst="rect">
            <a:avLst/>
          </a:prstGeom>
          <a:solidFill>
            <a:srgbClr val="FFFFFF"/>
          </a:solidFill>
          <a:ln w="6350">
            <a:solidFill>
              <a:srgbClr val="CBD5E1"/>
            </a:solidFill>
            <a:prstDash val="solid"/>
          </a:ln>
          <a:effectLst>
            <a:outerShdw sx="100000" sy="100000" kx="0" ky="0" algn="bl" rotWithShape="0" blurRad="76200" dist="12700" dir="5400000">
              <a:srgbClr val="000000">
                <a:alpha val="6000"/>
              </a:srgbClr>
            </a:outerShdw>
          </a:effectLst>
        </p:spPr>
      </p:sp>
      <p:sp>
        <p:nvSpPr>
          <p:cNvPr id="22" name="Shape 20"/>
          <p:cNvSpPr/>
          <p:nvPr/>
        </p:nvSpPr>
        <p:spPr>
          <a:xfrm>
            <a:off x="4617720" y="2971800"/>
            <a:ext cx="73152" cy="1554480"/>
          </a:xfrm>
          <a:prstGeom prst="rect">
            <a:avLst/>
          </a:prstGeom>
          <a:solidFill>
            <a:srgbClr val="1C7293"/>
          </a:solidFill>
          <a:ln/>
        </p:spPr>
      </p:sp>
      <p:sp>
        <p:nvSpPr>
          <p:cNvPr id="23" name="Text 21"/>
          <p:cNvSpPr/>
          <p:nvPr/>
        </p:nvSpPr>
        <p:spPr>
          <a:xfrm>
            <a:off x="4800600" y="3044952"/>
            <a:ext cx="3840480"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INFLAMMATION + DRUGS</a:t>
            </a:r>
            <a:endParaRPr lang="en-US" sz="1150" dirty="0"/>
          </a:p>
        </p:txBody>
      </p:sp>
      <p:sp>
        <p:nvSpPr>
          <p:cNvPr id="24" name="Text 22"/>
          <p:cNvSpPr/>
          <p:nvPr/>
        </p:nvSpPr>
        <p:spPr>
          <a:xfrm>
            <a:off x="4800600" y="3337560"/>
            <a:ext cx="3840480" cy="1143000"/>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Pro-inflammatory cytokines; NSAIDs, diuretic over-dose, contrast, sepsis overlay the primary problem.</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F0"/>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65A82"/>
          </a:solidFill>
          <a:ln/>
        </p:spPr>
      </p:sp>
      <p:sp>
        <p:nvSpPr>
          <p:cNvPr id="3" name="Text 1"/>
          <p:cNvSpPr/>
          <p:nvPr/>
        </p:nvSpPr>
        <p:spPr>
          <a:xfrm>
            <a:off x="365760" y="164592"/>
            <a:ext cx="548640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Cardiorenal Syndrome</a:t>
            </a:r>
            <a:endParaRPr lang="en-US" sz="1000" dirty="0"/>
          </a:p>
        </p:txBody>
      </p:sp>
      <p:sp>
        <p:nvSpPr>
          <p:cNvPr id="4" name="Text 2"/>
          <p:cNvSpPr/>
          <p:nvPr/>
        </p:nvSpPr>
        <p:spPr>
          <a:xfrm>
            <a:off x="7680960" y="164592"/>
            <a:ext cx="10972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 / 12</a:t>
            </a:r>
            <a:endParaRPr lang="en-US" sz="1000" dirty="0"/>
          </a:p>
        </p:txBody>
      </p:sp>
      <p:sp>
        <p:nvSpPr>
          <p:cNvPr id="5" name="Text 3"/>
          <p:cNvSpPr/>
          <p:nvPr/>
        </p:nvSpPr>
        <p:spPr>
          <a:xfrm>
            <a:off x="365760" y="411480"/>
            <a:ext cx="8412480" cy="50292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Decongestion — the strategy that works</a:t>
            </a:r>
            <a:endParaRPr lang="en-US" sz="2400" dirty="0"/>
          </a:p>
        </p:txBody>
      </p:sp>
      <p:sp>
        <p:nvSpPr>
          <p:cNvPr id="6" name="Text 4"/>
          <p:cNvSpPr/>
          <p:nvPr/>
        </p:nvSpPr>
        <p:spPr>
          <a:xfrm>
            <a:off x="365760" y="932688"/>
            <a:ext cx="8412480" cy="256032"/>
          </a:xfrm>
          <a:prstGeom prst="rect">
            <a:avLst/>
          </a:prstGeom>
          <a:noFill/>
          <a:ln/>
        </p:spPr>
        <p:txBody>
          <a:bodyPr wrap="square" lIns="0" tIns="0" rIns="0" bIns="0"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Loop first, sequential nephron blockade if stuck. Watch markers, not just Cr.</a:t>
            </a:r>
            <a:endParaRPr lang="en-US" sz="1200" dirty="0"/>
          </a:p>
        </p:txBody>
      </p:sp>
      <p:sp>
        <p:nvSpPr>
          <p:cNvPr id="7" name="Shape 5"/>
          <p:cNvSpPr/>
          <p:nvPr/>
        </p:nvSpPr>
        <p:spPr>
          <a:xfrm>
            <a:off x="365760" y="4846320"/>
            <a:ext cx="8412480" cy="0"/>
          </a:xfrm>
          <a:prstGeom prst="line">
            <a:avLst/>
          </a:prstGeom>
          <a:noFill/>
          <a:ln w="6350">
            <a:solidFill>
              <a:srgbClr val="CBD5E1"/>
            </a:solidFill>
            <a:prstDash val="solid"/>
          </a:ln>
        </p:spPr>
      </p:sp>
      <p:sp>
        <p:nvSpPr>
          <p:cNvPr id="8" name="Text 6"/>
          <p:cNvSpPr/>
          <p:nvPr/>
        </p:nvSpPr>
        <p:spPr>
          <a:xfrm>
            <a:off x="365760" y="4901184"/>
            <a:ext cx="8412480" cy="2286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DOSE (NEJM 2011). CLOROTIC (JAMA Intern Med 2023). ACC/AHA 2022 HF.</a:t>
            </a:r>
            <a:endParaRPr lang="en-US" sz="850" dirty="0"/>
          </a:p>
        </p:txBody>
      </p:sp>
      <p:sp>
        <p:nvSpPr>
          <p:cNvPr id="9" name="Shape 7"/>
          <p:cNvSpPr/>
          <p:nvPr/>
        </p:nvSpPr>
        <p:spPr>
          <a:xfrm>
            <a:off x="365760" y="1280160"/>
            <a:ext cx="4114800" cy="3291840"/>
          </a:xfrm>
          <a:prstGeom prst="rect">
            <a:avLst/>
          </a:prstGeom>
          <a:solidFill>
            <a:srgbClr val="FFFFFF"/>
          </a:solidFill>
          <a:ln w="6350">
            <a:solidFill>
              <a:srgbClr val="CBD5E1"/>
            </a:solidFill>
            <a:prstDash val="solid"/>
          </a:ln>
          <a:effectLst>
            <a:outerShdw sx="100000" sy="100000" kx="0" ky="0" algn="bl" rotWithShape="0" blurRad="76200" dist="12700" dir="5400000">
              <a:srgbClr val="000000">
                <a:alpha val="6000"/>
              </a:srgbClr>
            </a:outerShdw>
          </a:effectLst>
        </p:spPr>
      </p:sp>
      <p:sp>
        <p:nvSpPr>
          <p:cNvPr id="10" name="Shape 8"/>
          <p:cNvSpPr/>
          <p:nvPr/>
        </p:nvSpPr>
        <p:spPr>
          <a:xfrm>
            <a:off x="365760" y="1280160"/>
            <a:ext cx="73152" cy="3291840"/>
          </a:xfrm>
          <a:prstGeom prst="rect">
            <a:avLst/>
          </a:prstGeom>
          <a:solidFill>
            <a:srgbClr val="065A82"/>
          </a:solidFill>
          <a:ln/>
        </p:spPr>
      </p:sp>
      <p:sp>
        <p:nvSpPr>
          <p:cNvPr id="11" name="Text 9"/>
          <p:cNvSpPr/>
          <p:nvPr/>
        </p:nvSpPr>
        <p:spPr>
          <a:xfrm>
            <a:off x="548640" y="1353312"/>
            <a:ext cx="3840480"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STEP-UP DIURETICS</a:t>
            </a:r>
            <a:endParaRPr lang="en-US" sz="1150" dirty="0"/>
          </a:p>
        </p:txBody>
      </p:sp>
      <p:sp>
        <p:nvSpPr>
          <p:cNvPr id="12" name="Text 10"/>
          <p:cNvSpPr/>
          <p:nvPr/>
        </p:nvSpPr>
        <p:spPr>
          <a:xfrm>
            <a:off x="640080" y="1691640"/>
            <a:ext cx="3749040" cy="2788920"/>
          </a:xfrm>
          <a:prstGeom prst="rect">
            <a:avLst/>
          </a:prstGeom>
          <a:noFill/>
          <a:ln/>
        </p:spPr>
        <p:txBody>
          <a:bodyPr wrap="square" lIns="0" tIns="0" rIns="0" bIns="0" rtlCol="0" anchor="t"/>
          <a:lstStyle/>
          <a:p>
            <a:pPr>
              <a:spcAft>
                <a:spcPts val="300"/>
              </a:spcAft>
            </a:pPr>
            <a:r>
              <a:rPr lang="en-US" sz="1000" b="1" dirty="0">
                <a:solidFill>
                  <a:srgbClr val="065A82"/>
                </a:solidFill>
                <a:latin typeface="Calibri" pitchFamily="34" charset="0"/>
                <a:ea typeface="Calibri" pitchFamily="34" charset="-122"/>
                <a:cs typeface="Calibri" pitchFamily="34" charset="-120"/>
              </a:rPr>
              <a:t>IV loop at 2.5× home oral dose (DOSE)</a:t>
            </a:r>
            <a:endParaRPr lang="en-US" sz="1000" dirty="0"/>
          </a:p>
          <a:p>
            <a:pPr>
              <a:spcAft>
                <a:spcPts val="300"/>
              </a:spcAft>
            </a:pPr>
            <a:r>
              <a:rPr lang="en-US" sz="1000" dirty="0">
                <a:solidFill>
                  <a:srgbClr val="1E293B"/>
                </a:solidFill>
                <a:latin typeface="Calibri" pitchFamily="34" charset="0"/>
                <a:ea typeface="Calibri" pitchFamily="34" charset="-122"/>
                <a:cs typeface="Calibri" pitchFamily="34" charset="-120"/>
              </a:rPr>
              <a:t>Furosemide 40–80 mg IV q12h or continuous infusion</a:t>
            </a:r>
            <a:endParaRPr lang="en-US" sz="1000" dirty="0"/>
          </a:p>
          <a:p>
            <a:pPr>
              <a:spcAft>
                <a:spcPts val="300"/>
              </a:spcAft>
            </a:pPr>
            <a:r>
              <a:rPr lang="en-US" sz="1000" dirty="0">
                <a:solidFill>
                  <a:srgbClr val="1E293B"/>
                </a:solidFill>
                <a:latin typeface="Calibri" pitchFamily="34" charset="0"/>
                <a:ea typeface="Calibri" pitchFamily="34" charset="-122"/>
                <a:cs typeface="Calibri" pitchFamily="34" charset="-120"/>
              </a:rPr>
              <a:t>Target: ≥ 3 L/24 h UOP; weight down 1–2 kg/day</a:t>
            </a:r>
            <a:endParaRPr lang="en-US" sz="1000" dirty="0"/>
          </a:p>
          <a:p>
            <a:pPr>
              <a:spcAft>
                <a:spcPts val="300"/>
              </a:spcAft>
            </a:pPr>
            <a:r>
              <a:rPr lang="en-US" sz="1000" dirty="0">
                <a:solidFill>
                  <a:srgbClr val="1E293B"/>
                </a:solidFill>
                <a:latin typeface="Calibri" pitchFamily="34" charset="0"/>
                <a:ea typeface="Calibri" pitchFamily="34" charset="-122"/>
                <a:cs typeface="Calibri" pitchFamily="34" charset="-120"/>
              </a:rPr>
              <a:t>If UOP &lt; 100 mL in 2 h → double dose</a:t>
            </a:r>
            <a:endParaRPr lang="en-US" sz="1000" dirty="0"/>
          </a:p>
          <a:p>
            <a:pPr>
              <a:spcAft>
                <a:spcPts val="300"/>
              </a:spcAft>
            </a:pPr>
            <a:r>
              <a:rPr lang="en-US" sz="1000" b="1" dirty="0">
                <a:solidFill>
                  <a:srgbClr val="1E293B"/>
                </a:solidFill>
                <a:latin typeface="Calibri" pitchFamily="34" charset="0"/>
                <a:ea typeface="Calibri" pitchFamily="34" charset="-122"/>
                <a:cs typeface="Calibri" pitchFamily="34" charset="-120"/>
              </a:rPr>
              <a:t>Stuck? Add thiazide (metolazone 2.5–10 mg or HCTZ / chlorothiazide) — CLOROTIC: faster decongestion</a:t>
            </a:r>
            <a:endParaRPr lang="en-US" sz="1000" dirty="0"/>
          </a:p>
          <a:p>
            <a:pPr>
              <a:spcAft>
                <a:spcPts val="300"/>
              </a:spcAft>
            </a:pPr>
            <a:r>
              <a:rPr lang="en-US" sz="1000" dirty="0">
                <a:solidFill>
                  <a:srgbClr val="1E293B"/>
                </a:solidFill>
                <a:latin typeface="Calibri" pitchFamily="34" charset="0"/>
                <a:ea typeface="Calibri" pitchFamily="34" charset="-122"/>
                <a:cs typeface="Calibri" pitchFamily="34" charset="-120"/>
              </a:rPr>
              <a:t>Add acetazolamide 500 mg IV daily (ADVOR) — augments natriuresis, corrects bicarb rise</a:t>
            </a:r>
            <a:endParaRPr lang="en-US" sz="1000" dirty="0"/>
          </a:p>
          <a:p>
            <a:pPr>
              <a:spcAft>
                <a:spcPts val="300"/>
              </a:spcAft>
            </a:pPr>
            <a:r>
              <a:rPr lang="en-US" sz="1000" dirty="0">
                <a:solidFill>
                  <a:srgbClr val="1E293B"/>
                </a:solidFill>
                <a:latin typeface="Calibri" pitchFamily="34" charset="0"/>
                <a:ea typeface="Calibri" pitchFamily="34" charset="-122"/>
                <a:cs typeface="Calibri" pitchFamily="34" charset="-120"/>
              </a:rPr>
              <a:t>Last: ultrafiltration (NOT first-line; CARRESS-HF)</a:t>
            </a:r>
            <a:endParaRPr lang="en-US" sz="1000" dirty="0"/>
          </a:p>
        </p:txBody>
      </p:sp>
      <p:sp>
        <p:nvSpPr>
          <p:cNvPr id="13" name="Shape 11"/>
          <p:cNvSpPr/>
          <p:nvPr/>
        </p:nvSpPr>
        <p:spPr>
          <a:xfrm>
            <a:off x="4663440" y="1280160"/>
            <a:ext cx="4114800" cy="3291840"/>
          </a:xfrm>
          <a:prstGeom prst="rect">
            <a:avLst/>
          </a:prstGeom>
          <a:solidFill>
            <a:srgbClr val="FFFFFF"/>
          </a:solidFill>
          <a:ln w="6350">
            <a:solidFill>
              <a:srgbClr val="CBD5E1"/>
            </a:solidFill>
            <a:prstDash val="solid"/>
          </a:ln>
          <a:effectLst>
            <a:outerShdw sx="100000" sy="100000" kx="0" ky="0" algn="bl" rotWithShape="0" blurRad="76200" dist="12700" dir="5400000">
              <a:srgbClr val="000000">
                <a:alpha val="6000"/>
              </a:srgbClr>
            </a:outerShdw>
          </a:effectLst>
        </p:spPr>
      </p:sp>
      <p:sp>
        <p:nvSpPr>
          <p:cNvPr id="14" name="Shape 12"/>
          <p:cNvSpPr/>
          <p:nvPr/>
        </p:nvSpPr>
        <p:spPr>
          <a:xfrm>
            <a:off x="4663440" y="1280160"/>
            <a:ext cx="73152" cy="3291840"/>
          </a:xfrm>
          <a:prstGeom prst="rect">
            <a:avLst/>
          </a:prstGeom>
          <a:solidFill>
            <a:srgbClr val="2C5F2D"/>
          </a:solidFill>
          <a:ln/>
        </p:spPr>
      </p:sp>
      <p:sp>
        <p:nvSpPr>
          <p:cNvPr id="15" name="Text 13"/>
          <p:cNvSpPr/>
          <p:nvPr/>
        </p:nvSpPr>
        <p:spPr>
          <a:xfrm>
            <a:off x="4846320" y="1353312"/>
            <a:ext cx="3840480"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MARKERS OF EFFECTIVE DECONGESTION</a:t>
            </a:r>
            <a:endParaRPr lang="en-US" sz="1150" dirty="0"/>
          </a:p>
        </p:txBody>
      </p:sp>
      <p:sp>
        <p:nvSpPr>
          <p:cNvPr id="16" name="Text 14"/>
          <p:cNvSpPr/>
          <p:nvPr/>
        </p:nvSpPr>
        <p:spPr>
          <a:xfrm>
            <a:off x="4937760" y="1691640"/>
            <a:ext cx="3749040" cy="2788920"/>
          </a:xfrm>
          <a:prstGeom prst="rect">
            <a:avLst/>
          </a:prstGeom>
          <a:noFill/>
          <a:ln/>
        </p:spPr>
        <p:txBody>
          <a:bodyPr wrap="square" lIns="0" tIns="0" rIns="0" bIns="0" rtlCol="0" anchor="t"/>
          <a:lstStyle/>
          <a:p>
            <a:pPr>
              <a:spcAft>
                <a:spcPts val="400"/>
              </a:spcAft>
            </a:pPr>
            <a:r>
              <a:rPr lang="en-US" sz="1050" dirty="0">
                <a:solidFill>
                  <a:srgbClr val="1E293B"/>
                </a:solidFill>
                <a:latin typeface="Calibri" pitchFamily="34" charset="0"/>
                <a:ea typeface="Calibri" pitchFamily="34" charset="-122"/>
                <a:cs typeface="Calibri" pitchFamily="34" charset="-120"/>
              </a:rPr>
              <a:t>Daily weight ↓ 0.5–1.5 kg</a:t>
            </a:r>
            <a:endParaRPr lang="en-US" sz="1050" dirty="0"/>
          </a:p>
          <a:p>
            <a:pPr>
              <a:spcAft>
                <a:spcPts val="400"/>
              </a:spcAft>
            </a:pPr>
            <a:r>
              <a:rPr lang="en-US" sz="1050" dirty="0">
                <a:solidFill>
                  <a:srgbClr val="1E293B"/>
                </a:solidFill>
                <a:latin typeface="Calibri" pitchFamily="34" charset="0"/>
                <a:ea typeface="Calibri" pitchFamily="34" charset="-122"/>
                <a:cs typeface="Calibri" pitchFamily="34" charset="-120"/>
              </a:rPr>
              <a:t>Rising hematocrit (hemoconcentration = good)</a:t>
            </a:r>
            <a:endParaRPr lang="en-US" sz="1050" dirty="0"/>
          </a:p>
          <a:p>
            <a:pPr>
              <a:spcAft>
                <a:spcPts val="400"/>
              </a:spcAft>
            </a:pPr>
            <a:r>
              <a:rPr lang="en-US" sz="1050" dirty="0">
                <a:solidFill>
                  <a:srgbClr val="1E293B"/>
                </a:solidFill>
                <a:latin typeface="Calibri" pitchFamily="34" charset="0"/>
                <a:ea typeface="Calibri" pitchFamily="34" charset="-122"/>
                <a:cs typeface="Calibri" pitchFamily="34" charset="-120"/>
              </a:rPr>
              <a:t>BNP / NT-proBNP trending down</a:t>
            </a:r>
            <a:endParaRPr lang="en-US" sz="1050" dirty="0"/>
          </a:p>
          <a:p>
            <a:pPr>
              <a:spcAft>
                <a:spcPts val="400"/>
              </a:spcAft>
            </a:pPr>
            <a:r>
              <a:rPr lang="en-US" sz="1050" dirty="0">
                <a:solidFill>
                  <a:srgbClr val="1E293B"/>
                </a:solidFill>
                <a:latin typeface="Calibri" pitchFamily="34" charset="0"/>
                <a:ea typeface="Calibri" pitchFamily="34" charset="-122"/>
                <a:cs typeface="Calibri" pitchFamily="34" charset="-120"/>
              </a:rPr>
              <a:t>Improving pulmonary exam, saturations, orthopnea</a:t>
            </a:r>
            <a:endParaRPr lang="en-US" sz="1050" dirty="0"/>
          </a:p>
          <a:p>
            <a:pPr>
              <a:spcAft>
                <a:spcPts val="400"/>
              </a:spcAft>
            </a:pPr>
            <a:r>
              <a:rPr lang="en-US" sz="1050" dirty="0">
                <a:solidFill>
                  <a:srgbClr val="1E293B"/>
                </a:solidFill>
                <a:latin typeface="Calibri" pitchFamily="34" charset="0"/>
                <a:ea typeface="Calibri" pitchFamily="34" charset="-122"/>
                <a:cs typeface="Calibri" pitchFamily="34" charset="-120"/>
              </a:rPr>
              <a:t>JVP lower; reducing edema</a:t>
            </a:r>
            <a:endParaRPr lang="en-US" sz="1050" dirty="0"/>
          </a:p>
          <a:p>
            <a:pPr>
              <a:spcAft>
                <a:spcPts val="400"/>
              </a:spcAft>
            </a:pPr>
            <a:r>
              <a:rPr lang="en-US" sz="1050" dirty="0">
                <a:solidFill>
                  <a:srgbClr val="1E293B"/>
                </a:solidFill>
                <a:latin typeface="Calibri" pitchFamily="34" charset="0"/>
                <a:ea typeface="Calibri" pitchFamily="34" charset="-122"/>
                <a:cs typeface="Calibri" pitchFamily="34" charset="-120"/>
              </a:rPr>
              <a:t>Urine Na &gt; 50 mEq/L within 2 h of loop (good natriuretic response)</a:t>
            </a:r>
            <a:endParaRPr lang="en-US" sz="1050" dirty="0"/>
          </a:p>
          <a:p>
            <a:pPr>
              <a:spcAft>
                <a:spcPts val="400"/>
              </a:spcAft>
            </a:pPr>
            <a:r>
              <a:rPr lang="en-US" sz="1050" b="1" dirty="0">
                <a:solidFill>
                  <a:srgbClr val="2C5F2D"/>
                </a:solidFill>
                <a:latin typeface="Calibri" pitchFamily="34" charset="0"/>
                <a:ea typeface="Calibri" pitchFamily="34" charset="-122"/>
                <a:cs typeface="Calibri" pitchFamily="34" charset="-120"/>
              </a:rPr>
              <a:t>Modest Cr rise OK if all above trending right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F0"/>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65A82"/>
          </a:solidFill>
          <a:ln/>
        </p:spPr>
      </p:sp>
      <p:sp>
        <p:nvSpPr>
          <p:cNvPr id="3" name="Text 1"/>
          <p:cNvSpPr/>
          <p:nvPr/>
        </p:nvSpPr>
        <p:spPr>
          <a:xfrm>
            <a:off x="365760" y="164592"/>
            <a:ext cx="548640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Cardiorenal Syndrome</a:t>
            </a:r>
            <a:endParaRPr lang="en-US" sz="1000" dirty="0"/>
          </a:p>
        </p:txBody>
      </p:sp>
      <p:sp>
        <p:nvSpPr>
          <p:cNvPr id="4" name="Text 2"/>
          <p:cNvSpPr/>
          <p:nvPr/>
        </p:nvSpPr>
        <p:spPr>
          <a:xfrm>
            <a:off x="7680960" y="164592"/>
            <a:ext cx="10972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 / 12</a:t>
            </a:r>
            <a:endParaRPr lang="en-US" sz="1000" dirty="0"/>
          </a:p>
        </p:txBody>
      </p:sp>
      <p:sp>
        <p:nvSpPr>
          <p:cNvPr id="5" name="Text 3"/>
          <p:cNvSpPr/>
          <p:nvPr/>
        </p:nvSpPr>
        <p:spPr>
          <a:xfrm>
            <a:off x="365760" y="411480"/>
            <a:ext cx="8412480" cy="50292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Creatinine up — what does it mean?</a:t>
            </a:r>
            <a:endParaRPr lang="en-US" sz="2400" dirty="0"/>
          </a:p>
        </p:txBody>
      </p:sp>
      <p:sp>
        <p:nvSpPr>
          <p:cNvPr id="6" name="Text 4"/>
          <p:cNvSpPr/>
          <p:nvPr/>
        </p:nvSpPr>
        <p:spPr>
          <a:xfrm>
            <a:off x="365760" y="932688"/>
            <a:ext cx="8412480" cy="256032"/>
          </a:xfrm>
          <a:prstGeom prst="rect">
            <a:avLst/>
          </a:prstGeom>
          <a:noFill/>
          <a:ln/>
        </p:spPr>
        <p:txBody>
          <a:bodyPr wrap="square" lIns="0" tIns="0" rIns="0" bIns="0"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Context decides whether it's good, neutral, or a problem.</a:t>
            </a:r>
            <a:endParaRPr lang="en-US" sz="1200" dirty="0"/>
          </a:p>
        </p:txBody>
      </p:sp>
      <p:sp>
        <p:nvSpPr>
          <p:cNvPr id="7" name="Shape 5"/>
          <p:cNvSpPr/>
          <p:nvPr/>
        </p:nvSpPr>
        <p:spPr>
          <a:xfrm>
            <a:off x="365760" y="4846320"/>
            <a:ext cx="8412480" cy="0"/>
          </a:xfrm>
          <a:prstGeom prst="line">
            <a:avLst/>
          </a:prstGeom>
          <a:noFill/>
          <a:ln w="6350">
            <a:solidFill>
              <a:srgbClr val="CBD5E1"/>
            </a:solidFill>
            <a:prstDash val="solid"/>
          </a:ln>
        </p:spPr>
      </p:sp>
      <p:sp>
        <p:nvSpPr>
          <p:cNvPr id="8" name="Text 6"/>
          <p:cNvSpPr/>
          <p:nvPr/>
        </p:nvSpPr>
        <p:spPr>
          <a:xfrm>
            <a:off x="365760" y="4901184"/>
            <a:ext cx="8412480" cy="2286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Mullens et al. JACC 2009. Damman et al. JACC 2013.</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3200400"/>
                <a:gridCol w="2468880"/>
                <a:gridCol w="2743200"/>
              </a:tblGrid>
              <a:tr h="34747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Scenario</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Interpretation</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Action</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r>
              <a:tr h="45720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Cr ↑ 10–30% during active decongestion with weight loss + BNP down</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i="1" dirty="0">
                          <a:solidFill>
                            <a:srgbClr val="2C5F2D"/>
                          </a:solidFill>
                          <a:latin typeface="Calibri" pitchFamily="34" charset="0"/>
                          <a:ea typeface="Calibri" pitchFamily="34" charset="-122"/>
                          <a:cs typeface="Calibri" pitchFamily="34" charset="-120"/>
                        </a:rPr>
                        <a:t>Hemodynamic; often protective</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CONTINUE diuresis; do NOT hold ACEi/ARB</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Cr ↑ with weight UP, worsening exam, rising BNP</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i="1" dirty="0">
                          <a:solidFill>
                            <a:srgbClr val="E76F51"/>
                          </a:solidFill>
                          <a:latin typeface="Calibri" pitchFamily="34" charset="0"/>
                          <a:ea typeface="Calibri" pitchFamily="34" charset="-122"/>
                          <a:cs typeface="Calibri" pitchFamily="34" charset="-120"/>
                        </a:rPr>
                        <a:t>Inadequate decongestion → worse perfusion</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ESCALATE diuretics (sequential blockade)</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Cr ↑ with hypotension, oliguria, lactate up</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i="1" dirty="0">
                          <a:solidFill>
                            <a:srgbClr val="9B2226"/>
                          </a:solidFill>
                          <a:latin typeface="Calibri" pitchFamily="34" charset="0"/>
                          <a:ea typeface="Calibri" pitchFamily="34" charset="-122"/>
                          <a:cs typeface="Calibri" pitchFamily="34" charset="-120"/>
                        </a:rPr>
                        <a:t>Low output / shock</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Reduce diuresis; consider inotropes, cath lab</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Cr ↑ &gt; 30%, abrupt, bland UA</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i="1" dirty="0">
                          <a:solidFill>
                            <a:srgbClr val="BC6C25"/>
                          </a:solidFill>
                          <a:latin typeface="Calibri" pitchFamily="34" charset="0"/>
                          <a:ea typeface="Calibri" pitchFamily="34" charset="-122"/>
                          <a:cs typeface="Calibri" pitchFamily="34" charset="-120"/>
                        </a:rPr>
                        <a:t>Over-diuresis / prerenal</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Pause loop, gentle albumin or NS, reassess volume</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Cr ↑ + active sediment / proteinuria</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i="1" dirty="0">
                          <a:solidFill>
                            <a:srgbClr val="E76F51"/>
                          </a:solidFill>
                          <a:latin typeface="Calibri" pitchFamily="34" charset="0"/>
                          <a:ea typeface="Calibri" pitchFamily="34" charset="-122"/>
                          <a:cs typeface="Calibri" pitchFamily="34" charset="-120"/>
                        </a:rPr>
                        <a:t>Intrinsic AKI — search</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Workup: ATN, GN, nephrotoxins, contrast</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5F0"/>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65A82"/>
          </a:solidFill>
          <a:ln/>
        </p:spPr>
      </p:sp>
      <p:sp>
        <p:nvSpPr>
          <p:cNvPr id="3" name="Text 1"/>
          <p:cNvSpPr/>
          <p:nvPr/>
        </p:nvSpPr>
        <p:spPr>
          <a:xfrm>
            <a:off x="365760" y="164592"/>
            <a:ext cx="548640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Cardiorenal Syndrome</a:t>
            </a:r>
            <a:endParaRPr lang="en-US" sz="1000" dirty="0"/>
          </a:p>
        </p:txBody>
      </p:sp>
      <p:sp>
        <p:nvSpPr>
          <p:cNvPr id="4" name="Text 2"/>
          <p:cNvSpPr/>
          <p:nvPr/>
        </p:nvSpPr>
        <p:spPr>
          <a:xfrm>
            <a:off x="7680960" y="164592"/>
            <a:ext cx="10972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 / 12</a:t>
            </a:r>
            <a:endParaRPr lang="en-US" sz="1000" dirty="0"/>
          </a:p>
        </p:txBody>
      </p:sp>
      <p:sp>
        <p:nvSpPr>
          <p:cNvPr id="5" name="Text 3"/>
          <p:cNvSpPr/>
          <p:nvPr/>
        </p:nvSpPr>
        <p:spPr>
          <a:xfrm>
            <a:off x="365760" y="411480"/>
            <a:ext cx="8412480" cy="50292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GDMT in CKD — keep it on</a:t>
            </a:r>
            <a:endParaRPr lang="en-US" sz="2400" dirty="0"/>
          </a:p>
        </p:txBody>
      </p:sp>
      <p:sp>
        <p:nvSpPr>
          <p:cNvPr id="6" name="Text 4"/>
          <p:cNvSpPr/>
          <p:nvPr/>
        </p:nvSpPr>
        <p:spPr>
          <a:xfrm>
            <a:off x="365760" y="932688"/>
            <a:ext cx="8412480" cy="256032"/>
          </a:xfrm>
          <a:prstGeom prst="rect">
            <a:avLst/>
          </a:prstGeom>
          <a:noFill/>
          <a:ln/>
        </p:spPr>
        <p:txBody>
          <a:bodyPr wrap="square" lIns="0" tIns="0" rIns="0" bIns="0"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Patients with HF and CKD benefit MORE from GDMT than those without CKD.</a:t>
            </a:r>
            <a:endParaRPr lang="en-US" sz="1200" dirty="0"/>
          </a:p>
        </p:txBody>
      </p:sp>
      <p:sp>
        <p:nvSpPr>
          <p:cNvPr id="7" name="Shape 5"/>
          <p:cNvSpPr/>
          <p:nvPr/>
        </p:nvSpPr>
        <p:spPr>
          <a:xfrm>
            <a:off x="365760" y="4846320"/>
            <a:ext cx="8412480" cy="0"/>
          </a:xfrm>
          <a:prstGeom prst="line">
            <a:avLst/>
          </a:prstGeom>
          <a:noFill/>
          <a:ln w="6350">
            <a:solidFill>
              <a:srgbClr val="CBD5E1"/>
            </a:solidFill>
            <a:prstDash val="solid"/>
          </a:ln>
        </p:spPr>
      </p:sp>
      <p:sp>
        <p:nvSpPr>
          <p:cNvPr id="8" name="Text 6"/>
          <p:cNvSpPr/>
          <p:nvPr/>
        </p:nvSpPr>
        <p:spPr>
          <a:xfrm>
            <a:off x="365760" y="4901184"/>
            <a:ext cx="8412480" cy="2286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DAPA-HF, EMPEROR-Reduced/Preserved, FIDELIO-DKD, FIGARO-DKD, PARADIGM-HF.</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828800"/>
                <a:gridCol w="3291840"/>
                <a:gridCol w="3291840"/>
              </a:tblGrid>
              <a:tr h="32004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Agent</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When to continue / start</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Stop / hold</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r>
              <a:tr h="411480">
                <a:tc>
                  <a:txBody>
                    <a:bodyPr/>
                    <a:lstStyle/>
                    <a:p>
                      <a:pPr indent="0" marL="0">
                        <a:buNone/>
                      </a:pPr>
                      <a:r>
                        <a:rPr lang="en-US" sz="950" b="1" dirty="0">
                          <a:solidFill>
                            <a:srgbClr val="065A82"/>
                          </a:solidFill>
                          <a:latin typeface="Calibri" pitchFamily="34" charset="0"/>
                          <a:ea typeface="Calibri" pitchFamily="34" charset="-122"/>
                          <a:cs typeface="Calibri" pitchFamily="34" charset="-120"/>
                        </a:rPr>
                        <a:t>ACEi / ARB / angiotensin-neprilysin inhibitor (ARNi)</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Continue through 20–30% Cr rise; essential in HFrEF + CKD</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K+ &gt; 5.5 after binder, symptomatic hypotension, pregnancy</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065A82"/>
                          </a:solidFill>
                          <a:latin typeface="Calibri" pitchFamily="34" charset="0"/>
                          <a:ea typeface="Calibri" pitchFamily="34" charset="-122"/>
                          <a:cs typeface="Calibri" pitchFamily="34" charset="-120"/>
                        </a:rPr>
                        <a:t>Beta-blocker (HFrEF)</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Continue through decongestion; down-titrate if shock</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Severe bradycardia; cardiogenic shock</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065A82"/>
                          </a:solidFill>
                          <a:latin typeface="Calibri" pitchFamily="34" charset="0"/>
                          <a:ea typeface="Calibri" pitchFamily="34" charset="-122"/>
                          <a:cs typeface="Calibri" pitchFamily="34" charset="-120"/>
                        </a:rPr>
                        <a:t>MRA (spiro / epler) — HFrEF / heart failure with preserved ejection fraction (HFpEF)</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eGFR ≥ 30, K+ ≤ 5.0. Monitor q1–2 wk after start</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K+ &gt; 5.5; severe CKD without binder</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065A82"/>
                          </a:solidFill>
                          <a:latin typeface="Calibri" pitchFamily="34" charset="0"/>
                          <a:ea typeface="Calibri" pitchFamily="34" charset="-122"/>
                          <a:cs typeface="Calibri" pitchFamily="34" charset="-120"/>
                        </a:rPr>
                        <a:t>SGLT2i</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Start at eGFR ≥ 20 (DAPA-HF, EMPEROR); continue to KRT</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Acute illness, DKA risk in T1DM</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065A82"/>
                          </a:solidFill>
                          <a:latin typeface="Calibri" pitchFamily="34" charset="0"/>
                          <a:ea typeface="Calibri" pitchFamily="34" charset="-122"/>
                          <a:cs typeface="Calibri" pitchFamily="34" charset="-120"/>
                        </a:rPr>
                        <a:t>Finerenone (DKD)</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T2DM + CKD; additive to ACEi/ARB + SGLT2i</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K+ &gt; 5.0 at start; adjust per eGFR</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065A82"/>
                          </a:solidFill>
                          <a:latin typeface="Calibri" pitchFamily="34" charset="0"/>
                          <a:ea typeface="Calibri" pitchFamily="34" charset="-122"/>
                          <a:cs typeface="Calibri" pitchFamily="34" charset="-120"/>
                        </a:rPr>
                        <a:t>Loop diuretic</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Titrate to euvolemia; pre-discharge regimen PO equivalent</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Over-diuresed / volume-depleted</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5F0"/>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65A82"/>
          </a:solidFill>
          <a:ln/>
        </p:spPr>
      </p:sp>
      <p:sp>
        <p:nvSpPr>
          <p:cNvPr id="3" name="Text 1"/>
          <p:cNvSpPr/>
          <p:nvPr/>
        </p:nvSpPr>
        <p:spPr>
          <a:xfrm>
            <a:off x="365760" y="164592"/>
            <a:ext cx="548640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Cardiorenal Syndrome</a:t>
            </a:r>
            <a:endParaRPr lang="en-US" sz="1000" dirty="0"/>
          </a:p>
        </p:txBody>
      </p:sp>
      <p:sp>
        <p:nvSpPr>
          <p:cNvPr id="4" name="Text 2"/>
          <p:cNvSpPr/>
          <p:nvPr/>
        </p:nvSpPr>
        <p:spPr>
          <a:xfrm>
            <a:off x="7680960" y="164592"/>
            <a:ext cx="10972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 / 12</a:t>
            </a:r>
            <a:endParaRPr lang="en-US" sz="1000" dirty="0"/>
          </a:p>
        </p:txBody>
      </p:sp>
      <p:sp>
        <p:nvSpPr>
          <p:cNvPr id="5" name="Text 3"/>
          <p:cNvSpPr/>
          <p:nvPr/>
        </p:nvSpPr>
        <p:spPr>
          <a:xfrm>
            <a:off x="365760" y="411480"/>
            <a:ext cx="8412480" cy="50292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Landmark trials shaping cardiorenal practice</a:t>
            </a:r>
            <a:endParaRPr lang="en-US" sz="2400" dirty="0"/>
          </a:p>
        </p:txBody>
      </p:sp>
      <p:sp>
        <p:nvSpPr>
          <p:cNvPr id="6" name="Text 4"/>
          <p:cNvSpPr/>
          <p:nvPr/>
        </p:nvSpPr>
        <p:spPr>
          <a:xfrm>
            <a:off x="365760" y="932688"/>
            <a:ext cx="8412480" cy="256032"/>
          </a:xfrm>
          <a:prstGeom prst="rect">
            <a:avLst/>
          </a:prstGeom>
          <a:noFill/>
          <a:ln/>
        </p:spPr>
        <p:txBody>
          <a:bodyPr wrap="square" lIns="0" tIns="0" rIns="0" bIns="0"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What to do when Cr rises during HF treatment.</a:t>
            </a:r>
            <a:endParaRPr lang="en-US" sz="1200" dirty="0"/>
          </a:p>
        </p:txBody>
      </p:sp>
      <p:sp>
        <p:nvSpPr>
          <p:cNvPr id="7" name="Shape 5"/>
          <p:cNvSpPr/>
          <p:nvPr/>
        </p:nvSpPr>
        <p:spPr>
          <a:xfrm>
            <a:off x="365760" y="4846320"/>
            <a:ext cx="8412480" cy="0"/>
          </a:xfrm>
          <a:prstGeom prst="line">
            <a:avLst/>
          </a:prstGeom>
          <a:noFill/>
          <a:ln w="6350">
            <a:solidFill>
              <a:srgbClr val="CBD5E1"/>
            </a:solidFill>
            <a:prstDash val="solid"/>
          </a:ln>
        </p:spPr>
      </p:sp>
      <p:sp>
        <p:nvSpPr>
          <p:cNvPr id="8" name="Text 6"/>
          <p:cNvSpPr/>
          <p:nvPr/>
        </p:nvSpPr>
        <p:spPr>
          <a:xfrm>
            <a:off x="365760" y="4901184"/>
            <a:ext cx="8412480" cy="2286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Full citations on references slide.</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828800"/>
                <a:gridCol w="731520"/>
                <a:gridCol w="5852160"/>
              </a:tblGrid>
              <a:tr h="32004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Trial</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Year</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Takeaway</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r>
              <a:tr h="36576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DOSE</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2011</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Low-dose vs high-dose loops, bolus vs continuous — high-dose = better decongestion, similar AKI.</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CARRESS-HF</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2012</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Ultrafiltration NOT superior to stepped diuretics; more AEs. Diuretics first-line.</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CLOROTIC</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2023</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Add HCTZ to IV loop → faster decongestion and weight loss in ADHF.</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ADVOR</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2022</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Add IV acetazolamide to loop → greater natriuresis and decongestion.</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DAPA-HF</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2019</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Dapagliflozin ↓ CV death/HF hosp 26% in HFrEF regardless of DM.</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EMPEROR-Reduced</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2020</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Empagliflozin ↓ CV death/HF hosp 25% in HFrEF.</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EMPEROR-Preserved</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2021</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SGLT2i benefit extends to HFpEF.</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FIDELIO / FIGARO</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2020–21</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Finerenone ↓ CV and kidney events in DKD.</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PARADIGM-HF</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2014</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Sacubitril/valsartan &gt; enalapril in HFrEF; benefit in CKD subgroups.</a:t>
                      </a:r>
                      <a:endParaRPr lang="en-US" sz="9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5F0"/>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65A82"/>
          </a:solidFill>
          <a:ln/>
        </p:spPr>
      </p:sp>
      <p:sp>
        <p:nvSpPr>
          <p:cNvPr id="3" name="Text 1"/>
          <p:cNvSpPr/>
          <p:nvPr/>
        </p:nvSpPr>
        <p:spPr>
          <a:xfrm>
            <a:off x="365760" y="164592"/>
            <a:ext cx="548640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Cardiorenal Syndrome</a:t>
            </a:r>
            <a:endParaRPr lang="en-US" sz="1000" dirty="0"/>
          </a:p>
        </p:txBody>
      </p:sp>
      <p:sp>
        <p:nvSpPr>
          <p:cNvPr id="4" name="Text 2"/>
          <p:cNvSpPr/>
          <p:nvPr/>
        </p:nvSpPr>
        <p:spPr>
          <a:xfrm>
            <a:off x="7680960" y="164592"/>
            <a:ext cx="10972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 / 12</a:t>
            </a:r>
            <a:endParaRPr lang="en-US" sz="1000" dirty="0"/>
          </a:p>
        </p:txBody>
      </p:sp>
      <p:sp>
        <p:nvSpPr>
          <p:cNvPr id="5" name="Text 3"/>
          <p:cNvSpPr/>
          <p:nvPr/>
        </p:nvSpPr>
        <p:spPr>
          <a:xfrm>
            <a:off x="365760" y="411480"/>
            <a:ext cx="8412480" cy="50292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Common pitfalls</a:t>
            </a:r>
            <a:endParaRPr lang="en-US" sz="2400" dirty="0"/>
          </a:p>
        </p:txBody>
      </p:sp>
      <p:sp>
        <p:nvSpPr>
          <p:cNvPr id="6" name="Text 4"/>
          <p:cNvSpPr/>
          <p:nvPr/>
        </p:nvSpPr>
        <p:spPr>
          <a:xfrm>
            <a:off x="365760" y="932688"/>
            <a:ext cx="8412480" cy="256032"/>
          </a:xfrm>
          <a:prstGeom prst="rect">
            <a:avLst/>
          </a:prstGeom>
          <a:noFill/>
          <a:ln/>
        </p:spPr>
        <p:txBody>
          <a:bodyPr wrap="square" lIns="0" tIns="0" rIns="0" bIns="0"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The biggest errors lead to under-decongestion and re-admission.</a:t>
            </a:r>
            <a:endParaRPr lang="en-US" sz="1200" dirty="0"/>
          </a:p>
        </p:txBody>
      </p:sp>
      <p:sp>
        <p:nvSpPr>
          <p:cNvPr id="7" name="Shape 5"/>
          <p:cNvSpPr/>
          <p:nvPr/>
        </p:nvSpPr>
        <p:spPr>
          <a:xfrm>
            <a:off x="365760" y="4846320"/>
            <a:ext cx="8412480" cy="0"/>
          </a:xfrm>
          <a:prstGeom prst="line">
            <a:avLst/>
          </a:prstGeom>
          <a:noFill/>
          <a:ln w="6350">
            <a:solidFill>
              <a:srgbClr val="CBD5E1"/>
            </a:solidFill>
            <a:prstDash val="solid"/>
          </a:ln>
        </p:spPr>
      </p:sp>
      <p:sp>
        <p:nvSpPr>
          <p:cNvPr id="8" name="Text 6"/>
          <p:cNvSpPr/>
          <p:nvPr/>
        </p:nvSpPr>
        <p:spPr>
          <a:xfrm>
            <a:off x="365760" y="4901184"/>
            <a:ext cx="8412480" cy="2286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Premier Nephrology teaching guide.</a:t>
            </a:r>
            <a:endParaRPr lang="en-US" sz="850" dirty="0"/>
          </a:p>
        </p:txBody>
      </p:sp>
      <p:sp>
        <p:nvSpPr>
          <p:cNvPr id="9" name="Shape 7"/>
          <p:cNvSpPr/>
          <p:nvPr/>
        </p:nvSpPr>
        <p:spPr>
          <a:xfrm>
            <a:off x="365760" y="1280160"/>
            <a:ext cx="4114800" cy="3291840"/>
          </a:xfrm>
          <a:prstGeom prst="rect">
            <a:avLst/>
          </a:prstGeom>
          <a:solidFill>
            <a:srgbClr val="FFFFFF"/>
          </a:solidFill>
          <a:ln w="6350">
            <a:solidFill>
              <a:srgbClr val="CBD5E1"/>
            </a:solidFill>
            <a:prstDash val="solid"/>
          </a:ln>
          <a:effectLst>
            <a:outerShdw sx="100000" sy="100000" kx="0" ky="0" algn="bl" rotWithShape="0" blurRad="76200" dist="12700" dir="5400000">
              <a:srgbClr val="000000">
                <a:alpha val="6000"/>
              </a:srgbClr>
            </a:outerShdw>
          </a:effectLst>
        </p:spPr>
      </p:sp>
      <p:sp>
        <p:nvSpPr>
          <p:cNvPr id="10" name="Shape 8"/>
          <p:cNvSpPr/>
          <p:nvPr/>
        </p:nvSpPr>
        <p:spPr>
          <a:xfrm>
            <a:off x="365760" y="1280160"/>
            <a:ext cx="73152" cy="3291840"/>
          </a:xfrm>
          <a:prstGeom prst="rect">
            <a:avLst/>
          </a:prstGeom>
          <a:solidFill>
            <a:srgbClr val="9B2226"/>
          </a:solidFill>
          <a:ln/>
        </p:spPr>
      </p:sp>
      <p:sp>
        <p:nvSpPr>
          <p:cNvPr id="11" name="Text 9"/>
          <p:cNvSpPr/>
          <p:nvPr/>
        </p:nvSpPr>
        <p:spPr>
          <a:xfrm>
            <a:off x="548640" y="1353312"/>
            <a:ext cx="3840480" cy="274320"/>
          </a:xfrm>
          <a:prstGeom prst="rect">
            <a:avLst/>
          </a:prstGeom>
          <a:noFill/>
          <a:ln/>
        </p:spPr>
        <p:txBody>
          <a:bodyPr wrap="square" lIns="0" tIns="0" rIns="0" bIns="0" rtlCol="0" anchor="ctr"/>
          <a:lstStyle/>
          <a:p>
            <a:pPr indent="0" marL="0">
              <a:buNone/>
            </a:pPr>
            <a:r>
              <a:rPr lang="en-US" sz="1150" b="1" spc="200" kern="0" dirty="0">
                <a:solidFill>
                  <a:srgbClr val="9B2226"/>
                </a:solidFill>
                <a:latin typeface="Calibri" pitchFamily="34" charset="0"/>
                <a:ea typeface="Calibri" pitchFamily="34" charset="-122"/>
                <a:cs typeface="Calibri" pitchFamily="34" charset="-120"/>
              </a:rPr>
              <a:t>AVOID</a:t>
            </a:r>
            <a:endParaRPr lang="en-US" sz="1150" dirty="0"/>
          </a:p>
        </p:txBody>
      </p:sp>
      <p:sp>
        <p:nvSpPr>
          <p:cNvPr id="12" name="Text 10"/>
          <p:cNvSpPr/>
          <p:nvPr/>
        </p:nvSpPr>
        <p:spPr>
          <a:xfrm>
            <a:off x="640080" y="1737360"/>
            <a:ext cx="3749040" cy="2743200"/>
          </a:xfrm>
          <a:prstGeom prst="rect">
            <a:avLst/>
          </a:prstGeom>
          <a:noFill/>
          <a:ln/>
        </p:spPr>
        <p:txBody>
          <a:bodyPr wrap="square" lIns="0" tIns="0" rIns="0" bIns="0" rtlCol="0" anchor="t"/>
          <a:lstStyle/>
          <a:p>
            <a:pPr>
              <a:spcAft>
                <a:spcPts val="700"/>
              </a:spcAft>
            </a:pPr>
            <a:r>
              <a:rPr lang="en-US" sz="1200" dirty="0">
                <a:solidFill>
                  <a:srgbClr val="1E293B"/>
                </a:solidFill>
                <a:latin typeface="Calibri" pitchFamily="34" charset="0"/>
                <a:ea typeface="Calibri" pitchFamily="34" charset="-122"/>
                <a:cs typeface="Calibri" pitchFamily="34" charset="-120"/>
              </a:rPr>
              <a:t>Stopping diuretics for 20% Cr rise</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Reflexively holding ACEi/ARB</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NS boluses in congestion</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UF before sequential blockade</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No K+ monitoring on MRA</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Skipping SGLT2i in HFrEF + CKD</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Missing prerenal / hypotension</a:t>
            </a:r>
            <a:endParaRPr lang="en-US" sz="1200" dirty="0"/>
          </a:p>
        </p:txBody>
      </p:sp>
      <p:sp>
        <p:nvSpPr>
          <p:cNvPr id="13" name="Shape 11"/>
          <p:cNvSpPr/>
          <p:nvPr/>
        </p:nvSpPr>
        <p:spPr>
          <a:xfrm>
            <a:off x="4663440" y="1280160"/>
            <a:ext cx="4114800" cy="3291840"/>
          </a:xfrm>
          <a:prstGeom prst="rect">
            <a:avLst/>
          </a:prstGeom>
          <a:solidFill>
            <a:srgbClr val="FFFFFF"/>
          </a:solidFill>
          <a:ln w="6350">
            <a:solidFill>
              <a:srgbClr val="CBD5E1"/>
            </a:solidFill>
            <a:prstDash val="solid"/>
          </a:ln>
          <a:effectLst>
            <a:outerShdw sx="100000" sy="100000" kx="0" ky="0" algn="bl" rotWithShape="0" blurRad="76200" dist="12700" dir="5400000">
              <a:srgbClr val="000000">
                <a:alpha val="6000"/>
              </a:srgbClr>
            </a:outerShdw>
          </a:effectLst>
        </p:spPr>
      </p:sp>
      <p:sp>
        <p:nvSpPr>
          <p:cNvPr id="14" name="Shape 12"/>
          <p:cNvSpPr/>
          <p:nvPr/>
        </p:nvSpPr>
        <p:spPr>
          <a:xfrm>
            <a:off x="4663440" y="1280160"/>
            <a:ext cx="73152" cy="3291840"/>
          </a:xfrm>
          <a:prstGeom prst="rect">
            <a:avLst/>
          </a:prstGeom>
          <a:solidFill>
            <a:srgbClr val="2C5F2D"/>
          </a:solidFill>
          <a:ln/>
        </p:spPr>
      </p:sp>
      <p:sp>
        <p:nvSpPr>
          <p:cNvPr id="15" name="Text 13"/>
          <p:cNvSpPr/>
          <p:nvPr/>
        </p:nvSpPr>
        <p:spPr>
          <a:xfrm>
            <a:off x="4846320" y="1353312"/>
            <a:ext cx="3840480" cy="274320"/>
          </a:xfrm>
          <a:prstGeom prst="rect">
            <a:avLst/>
          </a:prstGeom>
          <a:noFill/>
          <a:ln/>
        </p:spPr>
        <p:txBody>
          <a:bodyPr wrap="square" lIns="0" tIns="0" rIns="0" bIns="0" rtlCol="0" anchor="ctr"/>
          <a:lstStyle/>
          <a:p>
            <a:pPr indent="0" marL="0">
              <a:buNone/>
            </a:pPr>
            <a:r>
              <a:rPr lang="en-US" sz="1150" b="1" spc="200" kern="0" dirty="0">
                <a:solidFill>
                  <a:srgbClr val="2C5F2D"/>
                </a:solidFill>
                <a:latin typeface="Calibri" pitchFamily="34" charset="0"/>
                <a:ea typeface="Calibri" pitchFamily="34" charset="-122"/>
                <a:cs typeface="Calibri" pitchFamily="34" charset="-120"/>
              </a:rPr>
              <a:t>DO INSTEAD</a:t>
            </a:r>
            <a:endParaRPr lang="en-US" sz="1150" dirty="0"/>
          </a:p>
        </p:txBody>
      </p:sp>
      <p:sp>
        <p:nvSpPr>
          <p:cNvPr id="16" name="Text 14"/>
          <p:cNvSpPr/>
          <p:nvPr/>
        </p:nvSpPr>
        <p:spPr>
          <a:xfrm>
            <a:off x="4937760" y="1737360"/>
            <a:ext cx="3749040" cy="2743200"/>
          </a:xfrm>
          <a:prstGeom prst="rect">
            <a:avLst/>
          </a:prstGeom>
          <a:noFill/>
          <a:ln/>
        </p:spPr>
        <p:txBody>
          <a:bodyPr wrap="square" lIns="0" tIns="0" rIns="0" bIns="0" rtlCol="0" anchor="t"/>
          <a:lstStyle/>
          <a:p>
            <a:pPr>
              <a:spcAft>
                <a:spcPts val="700"/>
              </a:spcAft>
            </a:pPr>
            <a:r>
              <a:rPr lang="en-US" sz="1200" dirty="0">
                <a:solidFill>
                  <a:srgbClr val="1E293B"/>
                </a:solidFill>
                <a:latin typeface="Calibri" pitchFamily="34" charset="0"/>
                <a:ea typeface="Calibri" pitchFamily="34" charset="-122"/>
                <a:cs typeface="Calibri" pitchFamily="34" charset="-120"/>
              </a:rPr>
              <a:t>Decongest if weight / BNP improving</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Accept Cr ↑ up to 30% on RAAS</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Assess JVP + POCUS IVC</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Escalate: loop → thiazide → acetazolamide</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K+ weekly on MRA; binder if &gt; 5</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SGLT2i when eGFR ≥ 20 and stable</a:t>
            </a:r>
            <a:endParaRPr lang="en-US" sz="1200" dirty="0"/>
          </a:p>
          <a:p>
            <a:pPr>
              <a:spcAft>
                <a:spcPts val="700"/>
              </a:spcAft>
            </a:pPr>
            <a:r>
              <a:rPr lang="en-US" sz="1200" dirty="0">
                <a:solidFill>
                  <a:srgbClr val="1E293B"/>
                </a:solidFill>
                <a:latin typeface="Calibri" pitchFamily="34" charset="0"/>
                <a:ea typeface="Calibri" pitchFamily="34" charset="-122"/>
                <a:cs typeface="Calibri" pitchFamily="34" charset="-120"/>
              </a:rPr>
              <a:t>POCUS / CVP to distinguish shock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5F0"/>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65A82"/>
          </a:solidFill>
          <a:ln/>
        </p:spPr>
      </p:sp>
      <p:sp>
        <p:nvSpPr>
          <p:cNvPr id="3" name="Text 1"/>
          <p:cNvSpPr/>
          <p:nvPr/>
        </p:nvSpPr>
        <p:spPr>
          <a:xfrm>
            <a:off x="365760" y="164592"/>
            <a:ext cx="548640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Cardiorenal Syndrome</a:t>
            </a:r>
            <a:endParaRPr lang="en-US" sz="1000" dirty="0"/>
          </a:p>
        </p:txBody>
      </p:sp>
      <p:sp>
        <p:nvSpPr>
          <p:cNvPr id="4" name="Text 2"/>
          <p:cNvSpPr/>
          <p:nvPr/>
        </p:nvSpPr>
        <p:spPr>
          <a:xfrm>
            <a:off x="7680960" y="164592"/>
            <a:ext cx="10972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 / 12</a:t>
            </a:r>
            <a:endParaRPr lang="en-US" sz="1000" dirty="0"/>
          </a:p>
        </p:txBody>
      </p:sp>
      <p:sp>
        <p:nvSpPr>
          <p:cNvPr id="5" name="Text 3"/>
          <p:cNvSpPr/>
          <p:nvPr/>
        </p:nvSpPr>
        <p:spPr>
          <a:xfrm>
            <a:off x="365760" y="411480"/>
            <a:ext cx="8412480" cy="50292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Clinical case</a:t>
            </a:r>
            <a:endParaRPr lang="en-US" sz="2400" dirty="0"/>
          </a:p>
        </p:txBody>
      </p:sp>
      <p:sp>
        <p:nvSpPr>
          <p:cNvPr id="6" name="Text 4"/>
          <p:cNvSpPr/>
          <p:nvPr/>
        </p:nvSpPr>
        <p:spPr>
          <a:xfrm>
            <a:off x="365760" y="932688"/>
            <a:ext cx="8412480" cy="256032"/>
          </a:xfrm>
          <a:prstGeom prst="rect">
            <a:avLst/>
          </a:prstGeom>
          <a:noFill/>
          <a:ln/>
        </p:spPr>
        <p:txBody>
          <a:bodyPr wrap="square" lIns="0" tIns="0" rIns="0" bIns="0"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Think it through — answer is on the next slide.</a:t>
            </a:r>
            <a:endParaRPr lang="en-US" sz="1200" dirty="0"/>
          </a:p>
        </p:txBody>
      </p:sp>
      <p:sp>
        <p:nvSpPr>
          <p:cNvPr id="7" name="Shape 5"/>
          <p:cNvSpPr/>
          <p:nvPr/>
        </p:nvSpPr>
        <p:spPr>
          <a:xfrm>
            <a:off x="365760" y="4846320"/>
            <a:ext cx="8412480" cy="0"/>
          </a:xfrm>
          <a:prstGeom prst="line">
            <a:avLst/>
          </a:prstGeom>
          <a:noFill/>
          <a:ln w="6350">
            <a:solidFill>
              <a:srgbClr val="CBD5E1"/>
            </a:solidFill>
            <a:prstDash val="solid"/>
          </a:ln>
        </p:spPr>
      </p:sp>
      <p:sp>
        <p:nvSpPr>
          <p:cNvPr id="8" name="Text 6"/>
          <p:cNvSpPr/>
          <p:nvPr/>
        </p:nvSpPr>
        <p:spPr>
          <a:xfrm>
            <a:off x="365760" y="4901184"/>
            <a:ext cx="8412480" cy="2286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Clinical teaching case.</a:t>
            </a:r>
            <a:endParaRPr lang="en-US" sz="850" dirty="0"/>
          </a:p>
        </p:txBody>
      </p:sp>
      <p:sp>
        <p:nvSpPr>
          <p:cNvPr id="9" name="Shape 7"/>
          <p:cNvSpPr/>
          <p:nvPr/>
        </p:nvSpPr>
        <p:spPr>
          <a:xfrm>
            <a:off x="365760" y="1280160"/>
            <a:ext cx="8412480" cy="2514600"/>
          </a:xfrm>
          <a:prstGeom prst="rect">
            <a:avLst/>
          </a:prstGeom>
          <a:solidFill>
            <a:srgbClr val="FFFFFF"/>
          </a:solidFill>
          <a:ln w="6350">
            <a:solidFill>
              <a:srgbClr val="CBD5E1"/>
            </a:solidFill>
            <a:prstDash val="solid"/>
          </a:ln>
        </p:spPr>
      </p:sp>
      <p:sp>
        <p:nvSpPr>
          <p:cNvPr id="10" name="Shape 8"/>
          <p:cNvSpPr/>
          <p:nvPr/>
        </p:nvSpPr>
        <p:spPr>
          <a:xfrm>
            <a:off x="365760" y="1280160"/>
            <a:ext cx="73152" cy="2514600"/>
          </a:xfrm>
          <a:prstGeom prst="rect">
            <a:avLst/>
          </a:prstGeom>
          <a:solidFill>
            <a:srgbClr val="065A82"/>
          </a:solidFill>
          <a:ln/>
        </p:spPr>
      </p:sp>
      <p:sp>
        <p:nvSpPr>
          <p:cNvPr id="11" name="Text 9"/>
          <p:cNvSpPr/>
          <p:nvPr/>
        </p:nvSpPr>
        <p:spPr>
          <a:xfrm>
            <a:off x="548640" y="1353312"/>
            <a:ext cx="8046720" cy="228600"/>
          </a:xfrm>
          <a:prstGeom prst="rect">
            <a:avLst/>
          </a:prstGeom>
          <a:noFill/>
          <a:ln/>
        </p:spPr>
        <p:txBody>
          <a:bodyPr wrap="square" lIns="0" tIns="0" rIns="0" bIns="0" rtlCol="0" anchor="ctr"/>
          <a:lstStyle/>
          <a:p>
            <a:pPr indent="0" marL="0">
              <a:buNone/>
            </a:pPr>
            <a:r>
              <a:rPr lang="en-US" sz="1000" b="1" spc="400" kern="0" dirty="0">
                <a:solidFill>
                  <a:srgbClr val="065A82"/>
                </a:solidFill>
                <a:latin typeface="Calibri" pitchFamily="34" charset="0"/>
                <a:ea typeface="Calibri" pitchFamily="34" charset="-122"/>
                <a:cs typeface="Calibri" pitchFamily="34" charset="-120"/>
              </a:rPr>
              <a:t>VIGNETTE</a:t>
            </a:r>
            <a:endParaRPr lang="en-US" sz="1000" dirty="0"/>
          </a:p>
        </p:txBody>
      </p:sp>
      <p:sp>
        <p:nvSpPr>
          <p:cNvPr id="12" name="Text 10"/>
          <p:cNvSpPr/>
          <p:nvPr/>
        </p:nvSpPr>
        <p:spPr>
          <a:xfrm>
            <a:off x="548640" y="1627632"/>
            <a:ext cx="8046720" cy="21031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A 66-year-old man with HFrEF (EF 25%) and CKD 3a admitted with ADHF. On furosemide 40 mg PO daily at home, now on 80 mg IV q12h. Day 3: weight down 4 kg, BNP down from 2800 → 1400, crackles improving, hematocrit up from 36 → 40. Cr rose 1.5 → 1.9 (27% increase). Team wants to hold lisinopril, stop furosemide, give albumin.</a:t>
            </a:r>
            <a:endParaRPr lang="en-US" sz="1300" dirty="0"/>
          </a:p>
        </p:txBody>
      </p:sp>
      <p:sp>
        <p:nvSpPr>
          <p:cNvPr id="13" name="Shape 11"/>
          <p:cNvSpPr/>
          <p:nvPr/>
        </p:nvSpPr>
        <p:spPr>
          <a:xfrm>
            <a:off x="365760" y="3931920"/>
            <a:ext cx="8412480" cy="822960"/>
          </a:xfrm>
          <a:prstGeom prst="rect">
            <a:avLst/>
          </a:prstGeom>
          <a:solidFill>
            <a:srgbClr val="EBF3F7"/>
          </a:solidFill>
          <a:ln w="6350">
            <a:solidFill>
              <a:srgbClr val="1C7293"/>
            </a:solidFill>
            <a:prstDash val="solid"/>
          </a:ln>
        </p:spPr>
      </p:sp>
      <p:sp>
        <p:nvSpPr>
          <p:cNvPr id="14" name="Text 12"/>
          <p:cNvSpPr/>
          <p:nvPr/>
        </p:nvSpPr>
        <p:spPr>
          <a:xfrm>
            <a:off x="548640" y="3995928"/>
            <a:ext cx="8046720" cy="713232"/>
          </a:xfrm>
          <a:prstGeom prst="rect">
            <a:avLst/>
          </a:prstGeom>
          <a:noFill/>
          <a:ln/>
        </p:spPr>
        <p:txBody>
          <a:bodyPr wrap="square" lIns="0" tIns="0" rIns="0" bIns="0" rtlCol="0" anchor="ctr"/>
          <a:lstStyle/>
          <a:p>
            <a:pPr indent="0" marL="0">
              <a:buNone/>
            </a:pPr>
            <a:r>
              <a:rPr lang="en-US" sz="1300" b="1" dirty="0">
                <a:solidFill>
                  <a:srgbClr val="033E5C"/>
                </a:solidFill>
                <a:latin typeface="Calibri" pitchFamily="34" charset="0"/>
                <a:ea typeface="Calibri" pitchFamily="34" charset="-122"/>
                <a:cs typeface="Calibri" pitchFamily="34" charset="-120"/>
              </a:rPr>
              <a:t>QUESTION:  </a:t>
            </a:r>
            <a:pPr indent="0" marL="0">
              <a:buNone/>
            </a:pPr>
            <a:r>
              <a:rPr lang="en-US" sz="1300" dirty="0">
                <a:solidFill>
                  <a:srgbClr val="1E293B"/>
                </a:solidFill>
                <a:latin typeface="Calibri" pitchFamily="34" charset="0"/>
                <a:ea typeface="Calibri" pitchFamily="34" charset="-122"/>
                <a:cs typeface="Calibri" pitchFamily="34" charset="-120"/>
              </a:rPr>
              <a:t>Is this acute kidney injury that needs volume? What do you recommend?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5F0"/>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65A82"/>
          </a:solidFill>
          <a:ln/>
        </p:spPr>
      </p:sp>
      <p:sp>
        <p:nvSpPr>
          <p:cNvPr id="3" name="Text 1"/>
          <p:cNvSpPr/>
          <p:nvPr/>
        </p:nvSpPr>
        <p:spPr>
          <a:xfrm>
            <a:off x="365760" y="164592"/>
            <a:ext cx="548640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Cardiorenal Syndrome</a:t>
            </a:r>
            <a:endParaRPr lang="en-US" sz="1000" dirty="0"/>
          </a:p>
        </p:txBody>
      </p:sp>
      <p:sp>
        <p:nvSpPr>
          <p:cNvPr id="4" name="Text 2"/>
          <p:cNvSpPr/>
          <p:nvPr/>
        </p:nvSpPr>
        <p:spPr>
          <a:xfrm>
            <a:off x="7680960" y="164592"/>
            <a:ext cx="109728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 / 12</a:t>
            </a:r>
            <a:endParaRPr lang="en-US" sz="1000" dirty="0"/>
          </a:p>
        </p:txBody>
      </p:sp>
      <p:sp>
        <p:nvSpPr>
          <p:cNvPr id="5" name="Text 3"/>
          <p:cNvSpPr/>
          <p:nvPr/>
        </p:nvSpPr>
        <p:spPr>
          <a:xfrm>
            <a:off x="365760" y="411480"/>
            <a:ext cx="8412480" cy="50292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Clinical case — answer</a:t>
            </a:r>
            <a:endParaRPr lang="en-US" sz="2400" dirty="0"/>
          </a:p>
        </p:txBody>
      </p:sp>
      <p:sp>
        <p:nvSpPr>
          <p:cNvPr id="6" name="Text 4"/>
          <p:cNvSpPr/>
          <p:nvPr/>
        </p:nvSpPr>
        <p:spPr>
          <a:xfrm>
            <a:off x="365760" y="932688"/>
            <a:ext cx="8412480" cy="256032"/>
          </a:xfrm>
          <a:prstGeom prst="rect">
            <a:avLst/>
          </a:prstGeom>
          <a:noFill/>
          <a:ln/>
        </p:spPr>
        <p:txBody>
          <a:bodyPr wrap="square" lIns="0" tIns="0" rIns="0" bIns="0"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Key teaching points from the case.</a:t>
            </a:r>
            <a:endParaRPr lang="en-US" sz="1200" dirty="0"/>
          </a:p>
        </p:txBody>
      </p:sp>
      <p:sp>
        <p:nvSpPr>
          <p:cNvPr id="7" name="Shape 5"/>
          <p:cNvSpPr/>
          <p:nvPr/>
        </p:nvSpPr>
        <p:spPr>
          <a:xfrm>
            <a:off x="365760" y="4846320"/>
            <a:ext cx="8412480" cy="0"/>
          </a:xfrm>
          <a:prstGeom prst="line">
            <a:avLst/>
          </a:prstGeom>
          <a:noFill/>
          <a:ln w="6350">
            <a:solidFill>
              <a:srgbClr val="CBD5E1"/>
            </a:solidFill>
            <a:prstDash val="solid"/>
          </a:ln>
        </p:spPr>
      </p:sp>
      <p:sp>
        <p:nvSpPr>
          <p:cNvPr id="8" name="Text 6"/>
          <p:cNvSpPr/>
          <p:nvPr/>
        </p:nvSpPr>
        <p:spPr>
          <a:xfrm>
            <a:off x="365760" y="4901184"/>
            <a:ext cx="8412480" cy="2286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Clinical teaching case.</a:t>
            </a:r>
            <a:endParaRPr lang="en-US" sz="850" dirty="0"/>
          </a:p>
        </p:txBody>
      </p:sp>
      <p:sp>
        <p:nvSpPr>
          <p:cNvPr id="9" name="Shape 7"/>
          <p:cNvSpPr/>
          <p:nvPr/>
        </p:nvSpPr>
        <p:spPr>
          <a:xfrm>
            <a:off x="365760" y="1280160"/>
            <a:ext cx="8412480" cy="1097280"/>
          </a:xfrm>
          <a:prstGeom prst="rect">
            <a:avLst/>
          </a:prstGeom>
          <a:solidFill>
            <a:srgbClr val="FFFFFF"/>
          </a:solidFill>
          <a:ln w="6350">
            <a:solidFill>
              <a:srgbClr val="CBD5E1"/>
            </a:solidFill>
            <a:prstDash val="solid"/>
          </a:ln>
        </p:spPr>
      </p:sp>
      <p:sp>
        <p:nvSpPr>
          <p:cNvPr id="10" name="Shape 8"/>
          <p:cNvSpPr/>
          <p:nvPr/>
        </p:nvSpPr>
        <p:spPr>
          <a:xfrm>
            <a:off x="365760" y="1280160"/>
            <a:ext cx="73152" cy="1097280"/>
          </a:xfrm>
          <a:prstGeom prst="rect">
            <a:avLst/>
          </a:prstGeom>
          <a:solidFill>
            <a:srgbClr val="E76F51"/>
          </a:solidFill>
          <a:ln/>
        </p:spPr>
      </p:sp>
      <p:sp>
        <p:nvSpPr>
          <p:cNvPr id="11" name="Text 9"/>
          <p:cNvSpPr/>
          <p:nvPr/>
        </p:nvSpPr>
        <p:spPr>
          <a:xfrm>
            <a:off x="548640" y="1353312"/>
            <a:ext cx="8046720" cy="228600"/>
          </a:xfrm>
          <a:prstGeom prst="rect">
            <a:avLst/>
          </a:prstGeom>
          <a:noFill/>
          <a:ln/>
        </p:spPr>
        <p:txBody>
          <a:bodyPr wrap="square" lIns="0" tIns="0" rIns="0" bIns="0" rtlCol="0" anchor="ctr"/>
          <a:lstStyle/>
          <a:p>
            <a:pPr indent="0" marL="0">
              <a:buNone/>
            </a:pPr>
            <a:r>
              <a:rPr lang="en-US" sz="1000" b="1" spc="400" kern="0" dirty="0">
                <a:solidFill>
                  <a:srgbClr val="E76F51"/>
                </a:solidFill>
                <a:latin typeface="Calibri" pitchFamily="34" charset="0"/>
                <a:ea typeface="Calibri" pitchFamily="34" charset="-122"/>
                <a:cs typeface="Calibri" pitchFamily="34" charset="-120"/>
              </a:rPr>
              <a:t>ANSWER</a:t>
            </a:r>
            <a:endParaRPr lang="en-US" sz="1000" dirty="0"/>
          </a:p>
        </p:txBody>
      </p:sp>
      <p:sp>
        <p:nvSpPr>
          <p:cNvPr id="12" name="Text 10"/>
          <p:cNvSpPr/>
          <p:nvPr/>
        </p:nvSpPr>
        <p:spPr>
          <a:xfrm>
            <a:off x="548640" y="1627632"/>
            <a:ext cx="8046720" cy="731520"/>
          </a:xfrm>
          <a:prstGeom prst="rect">
            <a:avLst/>
          </a:prstGeom>
          <a:noFill/>
          <a:ln/>
        </p:spPr>
        <p:txBody>
          <a:bodyPr wrap="square" lIns="0" tIns="0" rIns="0" bIns="0" rtlCol="0" anchor="t"/>
          <a:lstStyle/>
          <a:p>
            <a:pPr indent="0" marL="0">
              <a:buNone/>
            </a:pPr>
            <a:r>
              <a:rPr lang="en-US" sz="1400" b="1" dirty="0">
                <a:solidFill>
                  <a:srgbClr val="065A82"/>
                </a:solidFill>
                <a:latin typeface="Calibri" pitchFamily="34" charset="0"/>
                <a:ea typeface="Calibri" pitchFamily="34" charset="-122"/>
                <a:cs typeface="Calibri" pitchFamily="34" charset="-120"/>
              </a:rPr>
              <a:t>No — this is hemodynamic Cr rise during effective decongestion. Continue loop diuretic, continue lisinopril. Add acetazolamide or metolazone only if diuresis stalls.</a:t>
            </a:r>
            <a:endParaRPr lang="en-US" sz="1400" dirty="0"/>
          </a:p>
        </p:txBody>
      </p:sp>
      <p:sp>
        <p:nvSpPr>
          <p:cNvPr id="13" name="Shape 11"/>
          <p:cNvSpPr/>
          <p:nvPr/>
        </p:nvSpPr>
        <p:spPr>
          <a:xfrm>
            <a:off x="365760" y="2514600"/>
            <a:ext cx="8412480" cy="2240280"/>
          </a:xfrm>
          <a:prstGeom prst="rect">
            <a:avLst/>
          </a:prstGeom>
          <a:solidFill>
            <a:srgbClr val="FFFFFF"/>
          </a:solidFill>
          <a:ln w="6350">
            <a:solidFill>
              <a:srgbClr val="CBD5E1"/>
            </a:solidFill>
            <a:prstDash val="solid"/>
          </a:ln>
        </p:spPr>
      </p:sp>
      <p:sp>
        <p:nvSpPr>
          <p:cNvPr id="14" name="Shape 12"/>
          <p:cNvSpPr/>
          <p:nvPr/>
        </p:nvSpPr>
        <p:spPr>
          <a:xfrm>
            <a:off x="365760" y="2514600"/>
            <a:ext cx="73152" cy="2240280"/>
          </a:xfrm>
          <a:prstGeom prst="rect">
            <a:avLst/>
          </a:prstGeom>
          <a:solidFill>
            <a:srgbClr val="065A82"/>
          </a:solidFill>
          <a:ln/>
        </p:spPr>
      </p:sp>
      <p:sp>
        <p:nvSpPr>
          <p:cNvPr id="15" name="Text 13"/>
          <p:cNvSpPr/>
          <p:nvPr/>
        </p:nvSpPr>
        <p:spPr>
          <a:xfrm>
            <a:off x="548640" y="2587752"/>
            <a:ext cx="8046720" cy="228600"/>
          </a:xfrm>
          <a:prstGeom prst="rect">
            <a:avLst/>
          </a:prstGeom>
          <a:noFill/>
          <a:ln/>
        </p:spPr>
        <p:txBody>
          <a:bodyPr wrap="square" lIns="0" tIns="0" rIns="0" bIns="0" rtlCol="0" anchor="ctr"/>
          <a:lstStyle/>
          <a:p>
            <a:pPr indent="0" marL="0">
              <a:buNone/>
            </a:pPr>
            <a:r>
              <a:rPr lang="en-US" sz="1000" b="1" spc="400" kern="0" dirty="0">
                <a:solidFill>
                  <a:srgbClr val="065A82"/>
                </a:solidFill>
                <a:latin typeface="Calibri" pitchFamily="34" charset="0"/>
                <a:ea typeface="Calibri" pitchFamily="34" charset="-122"/>
                <a:cs typeface="Calibri" pitchFamily="34" charset="-120"/>
              </a:rPr>
              <a:t>TEACHING</a:t>
            </a:r>
            <a:endParaRPr lang="en-US" sz="1000" dirty="0"/>
          </a:p>
        </p:txBody>
      </p:sp>
      <p:sp>
        <p:nvSpPr>
          <p:cNvPr id="16" name="Text 14"/>
          <p:cNvSpPr/>
          <p:nvPr/>
        </p:nvSpPr>
        <p:spPr>
          <a:xfrm>
            <a:off x="548640" y="2852928"/>
            <a:ext cx="8046720" cy="182880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Rising Cr during active decongestion (weight down, BNP down, rising hct, improving exam) is usually benign and often PROTECTIVE. Stopping diuretics and 'protecting the kidneys' with saline causes reaccumulation of congestion and worse outcomes. Accept Cr rise of 20-30% on ACEi/ARB — it reflects hemodynamic adaptation, not injury. When truly stuck: sequential nephron blockade — add thiazide (CLOROTIC) or acetazolamide (ADVOR). UF is NOT first-line (CARRESS-HF). Start SGLT2i in HFrEF + CKD: dapagliflozin 10 mg (DAPA-HF) or empagliflozin (EMPEROR-Reduced) — down to eGFR 20.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33E5C"/>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76F51"/>
          </a:solidFill>
          <a:ln/>
        </p:spPr>
      </p:sp>
      <p:sp>
        <p:nvSpPr>
          <p:cNvPr id="3" name="Text 1"/>
          <p:cNvSpPr/>
          <p:nvPr/>
        </p:nvSpPr>
        <p:spPr>
          <a:xfrm>
            <a:off x="822960" y="548640"/>
            <a:ext cx="7315200" cy="365760"/>
          </a:xfrm>
          <a:prstGeom prst="rect">
            <a:avLst/>
          </a:prstGeom>
          <a:noFill/>
          <a:ln/>
        </p:spPr>
        <p:txBody>
          <a:bodyPr wrap="square" lIns="0" tIns="0" rIns="0" bIns="0" rtlCol="0" anchor="ctr"/>
          <a:lstStyle/>
          <a:p>
            <a:pPr indent="0" marL="0">
              <a:buNone/>
            </a:pPr>
            <a:r>
              <a:rPr lang="en-US" sz="1100" b="1" spc="800" kern="0" dirty="0">
                <a:solidFill>
                  <a:srgbClr val="E76F51"/>
                </a:solidFill>
                <a:latin typeface="Calibri" pitchFamily="34" charset="0"/>
                <a:ea typeface="Calibri" pitchFamily="34" charset="-122"/>
                <a:cs typeface="Calibri" pitchFamily="34" charset="-120"/>
              </a:rPr>
              <a:t>REFERENCES</a:t>
            </a:r>
            <a:endParaRPr lang="en-US" sz="1100" dirty="0"/>
          </a:p>
        </p:txBody>
      </p:sp>
      <p:sp>
        <p:nvSpPr>
          <p:cNvPr id="4" name="Text 2"/>
          <p:cNvSpPr/>
          <p:nvPr/>
        </p:nvSpPr>
        <p:spPr>
          <a:xfrm>
            <a:off x="822960" y="868680"/>
            <a:ext cx="7315200" cy="54864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Cardiorenal Syndrome</a:t>
            </a:r>
            <a:endParaRPr lang="en-US" sz="3200" dirty="0"/>
          </a:p>
        </p:txBody>
      </p:sp>
      <p:sp>
        <p:nvSpPr>
          <p:cNvPr id="5" name="Text 3"/>
          <p:cNvSpPr/>
          <p:nvPr/>
        </p:nvSpPr>
        <p:spPr>
          <a:xfrm>
            <a:off x="822960" y="1691640"/>
            <a:ext cx="3657600" cy="274320"/>
          </a:xfrm>
          <a:prstGeom prst="rect">
            <a:avLst/>
          </a:prstGeom>
          <a:noFill/>
          <a:ln/>
        </p:spPr>
        <p:txBody>
          <a:bodyPr wrap="square" lIns="0" tIns="0" rIns="0" bIns="0" rtlCol="0" anchor="ctr"/>
          <a:lstStyle/>
          <a:p>
            <a:pPr indent="0" marL="0">
              <a:buNone/>
            </a:pPr>
            <a:r>
              <a:rPr lang="en-US" sz="1100" b="1" spc="300" kern="0" dirty="0">
                <a:solidFill>
                  <a:srgbClr val="E76F51"/>
                </a:solidFill>
                <a:latin typeface="Calibri" pitchFamily="34" charset="0"/>
                <a:ea typeface="Calibri" pitchFamily="34" charset="-122"/>
                <a:cs typeface="Calibri" pitchFamily="34" charset="-120"/>
              </a:rPr>
              <a:t>Guidelines</a:t>
            </a:r>
            <a:endParaRPr lang="en-US" sz="1100" dirty="0"/>
          </a:p>
        </p:txBody>
      </p:sp>
      <p:sp>
        <p:nvSpPr>
          <p:cNvPr id="6" name="Text 4"/>
          <p:cNvSpPr/>
          <p:nvPr/>
        </p:nvSpPr>
        <p:spPr>
          <a:xfrm>
            <a:off x="822960" y="1965960"/>
            <a:ext cx="3931920" cy="2743200"/>
          </a:xfrm>
          <a:prstGeom prst="rect">
            <a:avLst/>
          </a:prstGeom>
          <a:noFill/>
          <a:ln/>
        </p:spPr>
        <p:txBody>
          <a:bodyPr wrap="square" lIns="0" tIns="0" rIns="0" bIns="0" rtlCol="0" anchor="t"/>
          <a:lstStyle/>
          <a:p>
            <a:pPr>
              <a:spcAft>
                <a:spcPts val="300"/>
              </a:spcAft>
            </a:pPr>
            <a:r>
              <a:rPr lang="en-US" sz="1050" dirty="0">
                <a:solidFill>
                  <a:srgbClr val="FFFFFF"/>
                </a:solidFill>
                <a:latin typeface="Calibri" pitchFamily="34" charset="0"/>
                <a:ea typeface="Calibri" pitchFamily="34" charset="-122"/>
                <a:cs typeface="Calibri" pitchFamily="34" charset="-120"/>
              </a:rPr>
              <a:t>ACC/AHA/HFSA 2022 HF Guideline</a:t>
            </a:r>
            <a:endParaRPr lang="en-US" sz="1050" dirty="0"/>
          </a:p>
          <a:p>
            <a:pPr>
              <a:spcAft>
                <a:spcPts val="300"/>
              </a:spcAft>
            </a:pPr>
            <a:r>
              <a:rPr lang="en-US" sz="1050" dirty="0">
                <a:solidFill>
                  <a:srgbClr val="FFFFFF"/>
                </a:solidFill>
                <a:latin typeface="Calibri" pitchFamily="34" charset="0"/>
                <a:ea typeface="Calibri" pitchFamily="34" charset="-122"/>
                <a:cs typeface="Calibri" pitchFamily="34" charset="-120"/>
              </a:rPr>
              <a:t>KDIGO 2024 CKD Guideline</a:t>
            </a:r>
            <a:endParaRPr lang="en-US" sz="1050" dirty="0"/>
          </a:p>
          <a:p>
            <a:pPr>
              <a:spcAft>
                <a:spcPts val="300"/>
              </a:spcAft>
            </a:pPr>
            <a:r>
              <a:rPr lang="en-US" sz="1050" dirty="0">
                <a:solidFill>
                  <a:srgbClr val="FFFFFF"/>
                </a:solidFill>
                <a:latin typeface="Calibri" pitchFamily="34" charset="0"/>
                <a:ea typeface="Calibri" pitchFamily="34" charset="-122"/>
                <a:cs typeface="Calibri" pitchFamily="34" charset="-120"/>
              </a:rPr>
              <a:t>KDIGO 2022 Diabetes in CKD</a:t>
            </a:r>
            <a:endParaRPr lang="en-US" sz="1050" dirty="0"/>
          </a:p>
          <a:p>
            <a:pPr>
              <a:spcAft>
                <a:spcPts val="300"/>
              </a:spcAft>
            </a:pPr>
            <a:r>
              <a:rPr lang="en-US" sz="1050" dirty="0">
                <a:solidFill>
                  <a:srgbClr val="FFFFFF"/>
                </a:solidFill>
                <a:latin typeface="Calibri" pitchFamily="34" charset="0"/>
                <a:ea typeface="Calibri" pitchFamily="34" charset="-122"/>
                <a:cs typeface="Calibri" pitchFamily="34" charset="-120"/>
              </a:rPr>
              <a:t>ESC 2021/2023 HF Guidelines</a:t>
            </a:r>
            <a:endParaRPr lang="en-US" sz="1050" dirty="0"/>
          </a:p>
        </p:txBody>
      </p:sp>
      <p:sp>
        <p:nvSpPr>
          <p:cNvPr id="7" name="Text 5"/>
          <p:cNvSpPr/>
          <p:nvPr/>
        </p:nvSpPr>
        <p:spPr>
          <a:xfrm>
            <a:off x="4937760" y="1691640"/>
            <a:ext cx="3657600" cy="274320"/>
          </a:xfrm>
          <a:prstGeom prst="rect">
            <a:avLst/>
          </a:prstGeom>
          <a:noFill/>
          <a:ln/>
        </p:spPr>
        <p:txBody>
          <a:bodyPr wrap="square" lIns="0" tIns="0" rIns="0" bIns="0" rtlCol="0" anchor="ctr"/>
          <a:lstStyle/>
          <a:p>
            <a:pPr indent="0" marL="0">
              <a:buNone/>
            </a:pPr>
            <a:r>
              <a:rPr lang="en-US" sz="1100" b="1" spc="300" kern="0" dirty="0">
                <a:solidFill>
                  <a:srgbClr val="E76F51"/>
                </a:solidFill>
                <a:latin typeface="Calibri" pitchFamily="34" charset="0"/>
                <a:ea typeface="Calibri" pitchFamily="34" charset="-122"/>
                <a:cs typeface="Calibri" pitchFamily="34" charset="-120"/>
              </a:rPr>
              <a:t>Landmark Trials</a:t>
            </a:r>
            <a:endParaRPr lang="en-US" sz="1100" dirty="0"/>
          </a:p>
        </p:txBody>
      </p:sp>
      <p:sp>
        <p:nvSpPr>
          <p:cNvPr id="8" name="Text 6"/>
          <p:cNvSpPr/>
          <p:nvPr/>
        </p:nvSpPr>
        <p:spPr>
          <a:xfrm>
            <a:off x="4937760" y="1965960"/>
            <a:ext cx="3840480" cy="2743200"/>
          </a:xfrm>
          <a:prstGeom prst="rect">
            <a:avLst/>
          </a:prstGeom>
          <a:noFill/>
          <a:ln/>
        </p:spPr>
        <p:txBody>
          <a:bodyPr wrap="square" lIns="0" tIns="0" rIns="0" bIns="0" rtlCol="0" anchor="t"/>
          <a:lstStyle/>
          <a:p>
            <a:pPr>
              <a:spcAft>
                <a:spcPts val="300"/>
              </a:spcAft>
            </a:pPr>
            <a:r>
              <a:rPr lang="en-US" sz="1050" dirty="0">
                <a:solidFill>
                  <a:srgbClr val="FFFFFF"/>
                </a:solidFill>
                <a:latin typeface="Calibri" pitchFamily="34" charset="0"/>
                <a:ea typeface="Calibri" pitchFamily="34" charset="-122"/>
                <a:cs typeface="Calibri" pitchFamily="34" charset="-120"/>
              </a:rPr>
              <a:t>DOSE — NEJM 2011</a:t>
            </a:r>
            <a:endParaRPr lang="en-US" sz="1050" dirty="0"/>
          </a:p>
          <a:p>
            <a:pPr>
              <a:spcAft>
                <a:spcPts val="300"/>
              </a:spcAft>
            </a:pPr>
            <a:r>
              <a:rPr lang="en-US" sz="1050" dirty="0">
                <a:solidFill>
                  <a:srgbClr val="FFFFFF"/>
                </a:solidFill>
                <a:latin typeface="Calibri" pitchFamily="34" charset="0"/>
                <a:ea typeface="Calibri" pitchFamily="34" charset="-122"/>
                <a:cs typeface="Calibri" pitchFamily="34" charset="-120"/>
              </a:rPr>
              <a:t>CARRESS-HF — NEJM 2012</a:t>
            </a:r>
            <a:endParaRPr lang="en-US" sz="1050" dirty="0"/>
          </a:p>
          <a:p>
            <a:pPr>
              <a:spcAft>
                <a:spcPts val="300"/>
              </a:spcAft>
            </a:pPr>
            <a:r>
              <a:rPr lang="en-US" sz="1050" dirty="0">
                <a:solidFill>
                  <a:srgbClr val="FFFFFF"/>
                </a:solidFill>
                <a:latin typeface="Calibri" pitchFamily="34" charset="0"/>
                <a:ea typeface="Calibri" pitchFamily="34" charset="-122"/>
                <a:cs typeface="Calibri" pitchFamily="34" charset="-120"/>
              </a:rPr>
              <a:t>CLOROTIC — JAMA IM 2023</a:t>
            </a:r>
            <a:endParaRPr lang="en-US" sz="1050" dirty="0"/>
          </a:p>
          <a:p>
            <a:pPr>
              <a:spcAft>
                <a:spcPts val="300"/>
              </a:spcAft>
            </a:pPr>
            <a:r>
              <a:rPr lang="en-US" sz="1050" dirty="0">
                <a:solidFill>
                  <a:srgbClr val="FFFFFF"/>
                </a:solidFill>
                <a:latin typeface="Calibri" pitchFamily="34" charset="0"/>
                <a:ea typeface="Calibri" pitchFamily="34" charset="-122"/>
                <a:cs typeface="Calibri" pitchFamily="34" charset="-120"/>
              </a:rPr>
              <a:t>ADVOR — NEJM 2022</a:t>
            </a:r>
            <a:endParaRPr lang="en-US" sz="1050" dirty="0"/>
          </a:p>
          <a:p>
            <a:pPr>
              <a:spcAft>
                <a:spcPts val="300"/>
              </a:spcAft>
            </a:pPr>
            <a:r>
              <a:rPr lang="en-US" sz="1050" dirty="0">
                <a:solidFill>
                  <a:srgbClr val="FFFFFF"/>
                </a:solidFill>
                <a:latin typeface="Calibri" pitchFamily="34" charset="0"/>
                <a:ea typeface="Calibri" pitchFamily="34" charset="-122"/>
                <a:cs typeface="Calibri" pitchFamily="34" charset="-120"/>
              </a:rPr>
              <a:t>DAPA-HF — NEJM 2019</a:t>
            </a:r>
            <a:endParaRPr lang="en-US" sz="1050" dirty="0"/>
          </a:p>
          <a:p>
            <a:pPr>
              <a:spcAft>
                <a:spcPts val="300"/>
              </a:spcAft>
            </a:pPr>
            <a:r>
              <a:rPr lang="en-US" sz="1050" dirty="0">
                <a:solidFill>
                  <a:srgbClr val="FFFFFF"/>
                </a:solidFill>
                <a:latin typeface="Calibri" pitchFamily="34" charset="0"/>
                <a:ea typeface="Calibri" pitchFamily="34" charset="-122"/>
                <a:cs typeface="Calibri" pitchFamily="34" charset="-120"/>
              </a:rPr>
              <a:t>EMPEROR-Reduced — NEJM 2020</a:t>
            </a:r>
            <a:endParaRPr lang="en-US" sz="1050" dirty="0"/>
          </a:p>
          <a:p>
            <a:pPr>
              <a:spcAft>
                <a:spcPts val="300"/>
              </a:spcAft>
            </a:pPr>
            <a:r>
              <a:rPr lang="en-US" sz="1050" dirty="0">
                <a:solidFill>
                  <a:srgbClr val="FFFFFF"/>
                </a:solidFill>
                <a:latin typeface="Calibri" pitchFamily="34" charset="0"/>
                <a:ea typeface="Calibri" pitchFamily="34" charset="-122"/>
                <a:cs typeface="Calibri" pitchFamily="34" charset="-120"/>
              </a:rPr>
              <a:t>EMPEROR-Preserved — NEJM 2021</a:t>
            </a:r>
            <a:endParaRPr lang="en-US" sz="1050" dirty="0"/>
          </a:p>
          <a:p>
            <a:pPr>
              <a:spcAft>
                <a:spcPts val="300"/>
              </a:spcAft>
            </a:pPr>
            <a:r>
              <a:rPr lang="en-US" sz="1050" dirty="0">
                <a:solidFill>
                  <a:srgbClr val="FFFFFF"/>
                </a:solidFill>
                <a:latin typeface="Calibri" pitchFamily="34" charset="0"/>
                <a:ea typeface="Calibri" pitchFamily="34" charset="-122"/>
                <a:cs typeface="Calibri" pitchFamily="34" charset="-120"/>
              </a:rPr>
              <a:t>PARADIGM-HF — NEJM 2014</a:t>
            </a:r>
            <a:endParaRPr lang="en-US" sz="1050" dirty="0"/>
          </a:p>
          <a:p>
            <a:pPr>
              <a:spcAft>
                <a:spcPts val="300"/>
              </a:spcAft>
            </a:pPr>
            <a:r>
              <a:rPr lang="en-US" sz="1050" dirty="0">
                <a:solidFill>
                  <a:srgbClr val="FFFFFF"/>
                </a:solidFill>
                <a:latin typeface="Calibri" pitchFamily="34" charset="0"/>
                <a:ea typeface="Calibri" pitchFamily="34" charset="-122"/>
                <a:cs typeface="Calibri" pitchFamily="34" charset="-120"/>
              </a:rPr>
              <a:t>FIDELIO / FIGARO — NEJM 2020–21</a:t>
            </a:r>
            <a:endParaRPr lang="en-US" sz="1050" dirty="0"/>
          </a:p>
        </p:txBody>
      </p:sp>
      <p:sp>
        <p:nvSpPr>
          <p:cNvPr id="9" name="Text 7"/>
          <p:cNvSpPr/>
          <p:nvPr/>
        </p:nvSpPr>
        <p:spPr>
          <a:xfrm>
            <a:off x="822960" y="4617720"/>
            <a:ext cx="7772400" cy="228600"/>
          </a:xfrm>
          <a:prstGeom prst="rect">
            <a:avLst/>
          </a:prstGeom>
          <a:noFill/>
          <a:ln/>
        </p:spPr>
        <p:txBody>
          <a:bodyPr wrap="square" lIns="0" tIns="0" rIns="0" bIns="0" rtlCol="0" anchor="ctr"/>
          <a:lstStyle/>
          <a:p>
            <a:pPr indent="0" marL="0">
              <a:buNone/>
            </a:pPr>
            <a:r>
              <a:rPr lang="en-US" sz="900" b="1" spc="300" kern="0" dirty="0">
                <a:solidFill>
                  <a:srgbClr val="E76F51"/>
                </a:solidFill>
                <a:latin typeface="Calibri" pitchFamily="34" charset="0"/>
                <a:ea typeface="Calibri" pitchFamily="34" charset="-122"/>
                <a:cs typeface="Calibri" pitchFamily="34" charset="-120"/>
              </a:rPr>
              <a:t>UpToDate (2026 access):</a:t>
            </a:r>
            <a:endParaRPr lang="en-US" sz="900" dirty="0"/>
          </a:p>
        </p:txBody>
      </p:sp>
      <p:sp>
        <p:nvSpPr>
          <p:cNvPr id="10" name="Text 8"/>
          <p:cNvSpPr/>
          <p:nvPr/>
        </p:nvSpPr>
        <p:spPr>
          <a:xfrm>
            <a:off x="822960" y="4846320"/>
            <a:ext cx="7772400" cy="228600"/>
          </a:xfrm>
          <a:prstGeom prst="rect">
            <a:avLst/>
          </a:prstGeom>
          <a:noFill/>
          <a:ln/>
        </p:spPr>
        <p:txBody>
          <a:bodyPr wrap="square" lIns="0" tIns="0" rIns="0" bIns="0" rtlCol="0" anchor="ctr"/>
          <a:lstStyle/>
          <a:p>
            <a:pPr indent="0" marL="0">
              <a:buNone/>
            </a:pPr>
            <a:r>
              <a:rPr lang="en-US" sz="850" i="1" dirty="0">
                <a:solidFill>
                  <a:srgbClr val="EBF3F7"/>
                </a:solidFill>
                <a:latin typeface="Calibri" pitchFamily="34" charset="0"/>
                <a:ea typeface="Calibri" pitchFamily="34" charset="-122"/>
                <a:cs typeface="Calibri" pitchFamily="34" charset="-120"/>
              </a:rPr>
              <a:t>Cardiorenal syndrome: definition, prevalence, diagnosis  •  Treatment of heart failure with reduced ejection fraction  •  Diuretic resistance in heart failure  •  Use of loop diuretics in adults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Cardiorenal Syndrome</dc:title>
  <dc:subject>PptxGenJS Presentation</dc:subject>
  <dc:creator>Dr. Cheng</dc:creator>
  <cp:lastModifiedBy>Dr. Cheng</cp:lastModifiedBy>
  <cp:revision>1</cp:revision>
  <dcterms:created xsi:type="dcterms:W3CDTF">2026-04-23T05:14:20Z</dcterms:created>
  <dcterms:modified xsi:type="dcterms:W3CDTF">2026-04-23T05:14:20Z</dcterms:modified>
</cp:coreProperties>
</file>