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NEPHROLOGY TEACHING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Hepatorenal Syndrome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 in the cirrhotic — a diagnosis of exclusion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914400" cy="36576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AKI in cirrhosis is NOT HRS. Exclude prerenal, ATN, GN, obstruction first.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Cheng  •  Premier Nephrology Medical Group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MS3/MS4 rotation teaching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Hepatorenal Syndrome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we get consulted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Cr in a cirrhotic with ascites — primary team wants the HRS call.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ICA-Acute Disease Quality Initiative (ADQI) 2024 hepatorenal syndrome with acute kidney injury (HRS-AKI) Consensus. American Association for the Study of Liver Diseases (AASLD) 2021 ascites guideline.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 TRIGGERS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 in cirrhotic with ascites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Refractory ascites + rising Cr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Diuretic hold + albumin — responded?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Terlipressin vs midodrine/octreotide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KRT: bridge or futile?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Transplant / MELD trajectory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screen + treatment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4023360" cy="3291840"/>
          </a:xfrm>
          <a:prstGeom prst="rect">
            <a:avLst/>
          </a:prstGeom>
          <a:solidFill>
            <a:srgbClr val="EBF3F7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4023360" cy="73152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4447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PEARL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83480" y="17373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i="1" dirty="0">
                <a:solidFill>
                  <a:srgbClr val="033E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HRS is never the first answer. Most AKI in cirrhosis is prerenal or ATN — HRS ~12%. Rule out everything else first. Paracentesis to exclude SBP is mandatory.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Hepatorenal Syndrome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AKI in cirrhosis — the differential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walk through every cause before calling HRS.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ICA-ADQI 2024 Consensus. UpToDate: Hepatorenal syndrome in adults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05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PRE-RENAL (~44%)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16459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 bleed, over-diuresis, large-volume paracentesis without albumin, lactulose diarrhea, poor PO. Responds to volume/albumin.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28016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280160"/>
            <a:ext cx="73152" cy="1005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ATN (~30%)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800600" y="164592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(SBP, cellulitis, UTI), contrast, nephrotoxins. Does NOT respond to volume alone; muddy brown casts.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77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377440"/>
            <a:ext cx="73152" cy="1005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 (~12%)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2743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Physiologic: splanchnic vasodilation → systemic hypotension → renal vasoconstriction. DIAGNOSIS OF EXCLUSION.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237744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377440"/>
            <a:ext cx="73152" cy="1005840"/>
          </a:xfrm>
          <a:prstGeom prst="rect">
            <a:avLst/>
          </a:prstGeom>
          <a:solidFill>
            <a:srgbClr val="BC6C25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4505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POST-RENAL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00600" y="274320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Uncommon. Tense ascites can rarely obstruct. Always get an ultrasound.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74720"/>
            <a:ext cx="73152" cy="1005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 / INTRINSIC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3840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IgA (alcoholic cirrhosis), HCV → cryo/MPGN, HBV → membranous. Check UA + serologies.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3474720"/>
            <a:ext cx="411480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3474720"/>
            <a:ext cx="73152" cy="1005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5478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/ TOXIC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00600" y="3840480"/>
            <a:ext cx="3886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NSAIDs (especially toxic in cirrhosis), aminoglycosides, vancomycin, ACE inhibitors in borderline.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Hepatorenal Syndrome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HRS-AKI diagnostic criteria (ICA-ADQI 2024)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criteria must be met — and alternatives excluded.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Club of Ascites / ADQI 2024 Consensus.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11480" y="1307592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307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0120" y="1234440"/>
            <a:ext cx="7818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12801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Cirrhosis with ascites (both required; HRS does not occur without ascites).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96596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60120" y="1892808"/>
            <a:ext cx="7818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19385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 by KDIGO: serum Cr ↑ ≥ 0.3 mg/dL within 48 h OR ≥ 50% baseline rise within 7 days.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62432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2624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60120" y="2551176"/>
            <a:ext cx="7818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259689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improvement after adequate volume resuscitation when clinically indicated. ICA-ADQI 2024 recommends against mandatory 48-h albumin for everyone.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3282696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" y="32826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60120" y="3209544"/>
            <a:ext cx="7818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97280" y="325526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strong evidence for another primary cause: shock, nephrotoxin injury, obstruction, ATN, GN, or uncontrolled sepsis/SBP.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941064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39410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0120" y="3867912"/>
            <a:ext cx="781812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391363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HRS-AKI can coexist with CKD, mild proteinuria, hematuria, or tubular injury — the key is whether another cause better explains the AKI.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Hepatorenal Syndrome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SBP — the precipitant you must rule out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paracentesis on every cirrhotic with AKI. Treat before you search for HRS.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AASLD 2021 ascites guideline. UpToDate: SBP diagnosis &amp; treatment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NEEDS PARACENTESIS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cirrhotic with ascites AND any of: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Admission with AKI or fever or abdominal pain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Encephalopathy, GI bleed, or new leukocytosis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Unexplained clinical deterioration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threshold: PMN &gt; 250/µL in ascites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Send: cell count + diff, albumin (serum-ascites albumin gradient (SAAG)), culture in blood culture bottles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wait for labs before empiric therapy if high suspicion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Empiric: ceftriaxone 2 g IV daily × 5–7 days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Ceftazidime or carbapenem if nosocomial / recent hospitalization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Albumin: 1.5 g/kg on day 1, 1 g/kg on day 3 — ↓ HRS and mortality (Sort et al, NEJM 1999)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non-selective BBs during episode (hypotension risk)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diuretics if AKI present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prophylaxis: norfloxacin or SMX-TMP daily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Hepatorenal Syndrome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HRS-AKI treatment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Vasoconstrictors + albumin bridge to transplant. KRT is supportive, not curative.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(NEJM 2021). AASLD / ICA 2024 guidelines.</a:t>
            </a:r>
            <a:endParaRPr lang="en-US" sz="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474720"/>
                <a:gridCol w="29260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Terlipressin  (Terlivaz)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 mg IV q6h (CONFIRM dose); escalate to 1.7 mg q6h if Cr not ↓ ≥ 30% by day 4; up to 14 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ICU/ward with monitoring; avoid if volume overloaded (respiratory failure ~11% vs ~2% in CONFIRM)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Norepinephrine  (ICU)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0.5–3 mg/h IV to target MAP rise by 10 mmHg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ICU-only; alternative where terlipressin unavailable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Midodrine + octreotide + albumin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Midodrine 7.5 mg PO TID (titrate to 12.5) + octreotide 100 µg SC TID + albumin 20–40 g/day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Floor/outpatient bridge — less effective than terlipressin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Albumin (adjunct)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g/kg on day 1 (max 100 g), then 20–40 g/day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along with any vasoconstrictor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AEIOU indications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Bridge to transplant only; not restorative for HRS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76F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refractory ascites / HRS candidates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Worsens encephalopathy; MELD must be favorable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Liver transplant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Kidney often recovers; occasionally combined simultaneous liver-kidney transplant (SLK)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Hepatorenal Syndrome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Prognosis and transplant candidacy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 is a sign of end-stage liver disease. MELD captures it; transplant is the answer.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UpToDate: Liver transplant in cirrhosis with AKI (2026).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transplant: median survival weeks to months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 HRS (AKI): worse than non-acute HRS (CKD-like)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KRT predicts high mortality without transplant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Terlipressin verified HRS reversal rate ~32% (CONFIRM primary endpoint); complete reversal improves survival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listing + MELD progression = priority allocation</a:t>
            </a:r>
            <a:endParaRPr lang="en-US" sz="1050" dirty="0"/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Non-reversal after 14 days of terlipressin = treatment failure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LIVER-KIDNEY (SLK)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691640"/>
            <a:ext cx="37490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 when HRS prolonged — unlikely to recover kidney post-LT alone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UNOS SLK criteria (2017): any of—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CKD: GFR ≤ 60 for &gt; 90 d PLUS dialysis or GFR ≤ 30 at listing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AKI on KRT for ≥ 6 weeks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AKI with GFR/CrCl ≤ 25 for ≥ 6 weeks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Combination of KRT + GFR criteria totaling 6 weeks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Metabolic disease (primary hyperoxaluria, atypical HUS)</a:t>
            </a:r>
            <a:endParaRPr lang="en-US" sz="1000" dirty="0"/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Multidisciplinary review + transplant center decision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Hepatorenal Syndrome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Landmark trials in HRS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practice — and what's still unknown.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citations on references slide.</a:t>
            </a:r>
            <a:endParaRPr lang="en-US" sz="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31520"/>
                <a:gridCol w="6035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Sort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Albumin + ceftriaxone vs ceftriaxone alone in SBP — ↓ HRS, ↓ mortality.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OT-0401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Terlipressin + albumin vs albumin — first positive US trial.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Terlipressin reduced HRS reversal vs placebo (~19% vs ~12%, did not meet FDA).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Terlipressin + albumin vs placebo + albumin — verified HRS reversal 32% vs 17%. FDA approval 2022.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Cavallin et al.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Terlipressin continuous infusion vs boluses — similar efficacy, fewer AEs.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MARS / Prometheus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Artificial liver support — no survival benefit in HRS.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Hepatorenal Syndrome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pitfalls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that lead to missed SBP, missed alternative diagnoses, or terlipressin harm.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 Nephrology teaching guide.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3291840"/>
          </a:xfrm>
          <a:prstGeom prst="rect">
            <a:avLst/>
          </a:prstGeom>
          <a:solidFill>
            <a:srgbClr val="9B222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9B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HRS without paracentesis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volume at 24 h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renal US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Terlipressin in volume overload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UA (RBC casts = GN)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FeNa in cirrhosis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in transplant referral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1148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80160"/>
            <a:ext cx="73152" cy="32918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3533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INSTEAD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Paracentesis on every cirrhotic AKI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Albumin 1 g/kg + hold diuretics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US, UA, proteinuria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volume before terlipressin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 UA supports HRS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Prerenal + ATN first; HRS third</a:t>
            </a:r>
            <a:endParaRPr lang="en-US" sz="1200" dirty="0"/>
          </a:p>
          <a:p>
            <a:pPr>
              <a:spcAft>
                <a:spcPts val="700"/>
              </a:spcAft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transplant team day 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Hepatorenal Syndrome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it through — answer is on the next slide.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25146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2514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VIGNETTE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58-year-old woman with alcohol-related cirrhosis (MELD 22), ascites on furosemide/spironolactone, admitted with decreasing UOP. BP 92/58, HR 98. Cr 2.4 (baseline 1.1). Ascites tap: PMN 80/µL, culture pending. UA: bland, &lt; 200 mg/day protein. US: normal kidneys. Diuretics held; albumin given for suspected low effective arterial volume; Cr remains 2.3 after reassessment.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931920"/>
            <a:ext cx="8412480" cy="822960"/>
          </a:xfrm>
          <a:prstGeom prst="rect">
            <a:avLst/>
          </a:prstGeom>
          <a:solidFill>
            <a:srgbClr val="EBF3F7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95928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3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she meet HRS-AKI criteria, and what's the next step?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Hepatorenal Syndrome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680960" y="164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4114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case — answer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93268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teaching points from the case.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4846320"/>
            <a:ext cx="84124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901184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teaching case.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65760" y="1280160"/>
            <a:ext cx="841248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0160"/>
            <a:ext cx="73152" cy="109728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35331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1627632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likely HRS-AKI after exclusion workup (cirrhosis + ascites, KDIGO AKI, no response after indicated resuscitation/diuretic hold, bland UA, no obstruction, no shock, no clear alternative cause). Start terlipressin + albumin with volume monitoring, and notify transplant hepatology now.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514600"/>
            <a:ext cx="8412480" cy="22402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514600"/>
            <a:ext cx="73152" cy="22402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8775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852928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HRS-AKI is a diagnosis of exclusion, but the 2024 ICA-ADQI criteria no longer require a fixed 48-h albumin challenge or strict proteinuria/hematuria cutoffs. Paracentesis is still mandatory because SBP can precipitate AKI; PMN &lt;250 makes SBP less likely while cultures are pending. Terlipressin 0.85 mg IV q6h (CONFIRM dose) + albumin; assess volume status carefully because respiratory failure risk rises if overloaded. Alternatives: norepinephrine in ICU or midodrine/octreotide when stronger options are unavailable. SLK is for prolonged kidney failure: sustained KRT ≥6 weeks or GFR/CrCl ≤25 for ≥6 weeks, or CKD criteria.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3E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Hepatorenal Syndrome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ICA-ADQI 2024 HRS-AKI Consensus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AASLD 2021 Ascites in Cirrhosis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EASL 2018 Clinical Practice Guidelines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Network for Organ Sharing (UNOS) SLK Allocation Policy (2017)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Trials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37760" y="196596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et al. — NEJM 1999 (SBP albumin)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OT-0401 — Gastroenterology 2008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— Hepatology 2016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— NEJM 2021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Cavallin et al. — Hepatology 2015</a:t>
            </a:r>
            <a:endParaRPr lang="en-US" sz="1050" dirty="0"/>
          </a:p>
          <a:p>
            <a:pPr>
              <a:spcAft>
                <a:spcPts val="3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/ Prometheus — Hepatology 2012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UpToDate (2026 access):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EBF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Hepatorenal syndrome in adults: Pathogenesis and diagnosis  •  Hepatorenal syndrome in adults: Treatment  •  Spontaneous bacterial peritonitis in adults  •  Liver transplantation in cirrhosis with AKI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Hepatorenal Syndrome</dc:title>
  <dc:subject>PptxGenJS Presentation</dc:subject>
  <dc:creator>Dr. Cheng</dc:creator>
  <cp:lastModifiedBy>Dr. Cheng</cp:lastModifiedBy>
  <cp:revision>1</cp:revision>
  <dcterms:created xsi:type="dcterms:W3CDTF">2026-04-23T05:14:20Z</dcterms:created>
  <dcterms:modified xsi:type="dcterms:W3CDTF">2026-04-23T05:14:20Z</dcterms:modified>
</cp:coreProperties>
</file>