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Diabetic Kidney Disease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four-pillar therapy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DKD is the #1 cause of end-stage kidney disease (ESKD). Every pillar in place at every visit.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cause of ESKD in the US — and highly modifiable if caught early.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2022 Diabetes in CKD. KDIGO 2024 CKD Guideline.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VISIT COVERS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DKD (not another CKD cause)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UACR + eGFR in all diabetics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pillars: ACEi/ARB, SGLT2i, finerenone, GLP-1 RA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A1c 7–8% individualized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&lt; 120 (AOBP)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 + lifestyle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Transplant planning by eGFR trend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all CKD in DM is DKD. Red flags: active sediment, rapid decline &gt; 5 mL/min/yr, no retinopathy, short DM, abrupt nephrotic proteinuria. Biopsy when atypical.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Diagnosing DKD — pattern recognition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Triad: proteinuria + bland sediment + retinopathy + longstanding DM.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2022 Diabetes in CKD. American Diabetes Association (ADA) 2026 Standards of Care.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DKD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Long-standing diabetes (T1DM ≥ 10 yr; T2DM any duration)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albuminuria (A2 → A3) followed by eGFR decline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 UA (no RBC casts, minimal hematuria)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Retinopathy present (esp. in T1DM)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microvascular complications (neuropathy)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eGFR decline (2–5 mL/min/yr)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FOR ALTERNATIVE DX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sediment: RBC casts, dysmorphic RBCs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decline &gt; 5 mL/min/yr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retinopathy in T1DM with proteinuria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Proteinuria appears &lt; 5 yr after T1DM diagnosis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Abrupt nephrotic-range proteinuria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features: rash, arthritis, hemoptysis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biopsy when these are present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pillars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but aim to have all four in place when appropriate.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2022 Diabetes in CKD. CREDENCE, DAPA-CKD, EMPA-KIDNEY, FIDELIO, FLOW.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ACEi / ARB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for albuminuria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Titrate to max dose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Cr ↑ up to 30%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if K &gt; 5.5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280160"/>
            <a:ext cx="73152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SGLT2 INHIBITOR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64592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 or empa 10 mg daily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eGFR ≥ 20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early eGFR dip — don't stop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 watch (T1DM, sick days)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73152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FINERENONE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T2DM + CKD; K ≤ 5.0 at start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mg if eGFR 25 to &lt; 60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mg if eGFR ≥ 60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to ACEi/ARB + SGLT2i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29718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971800"/>
            <a:ext cx="73152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GLP-1 RA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333756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Semaglutide 1.0 mg SQ weekly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+ CV benefit (FLOW 2024)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 + glycemic bonus</a:t>
            </a:r>
            <a:endParaRPr lang="en-US" sz="950" dirty="0"/>
          </a:p>
          <a:p>
            <a:pPr>
              <a:spcAft>
                <a:spcPts val="200"/>
              </a:spcAft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AEs — titrate slowly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Glycemic control in CKD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Individualized targets. Hypoglycemia risk rises as eGFR falls.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2026 Standards of Care. KDIGO 2022 Diabetes in CKD.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463040"/>
                <a:gridCol w="3474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A1c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Young, short DM, low hypoglycemia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 control — early preserves nephrons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DKD, moderate comorbid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7.0–7.5%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benefit vs hypoglycemia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CKD (eGFR &lt; 30), elderly, hx hypoglycemia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7.5–8%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insulin accumulation; prefer short-acting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Dialysis, high hypoglycemia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8–8.5%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A1c unreliable (anemia, transfusion); use continuous glucose monitor (CGM)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383280"/>
            <a:ext cx="8412480" cy="118872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7472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that need adjustment as eGFR falls: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Metformin: stop at eGFR &lt; 30; dose-reduce 30–45  • Sulfonylureas: glipizide preferred (no renal clearance); avoid glyburide  • Insulin: doses often need reduction by 25–50% as eGFR &lt; 30  • dipeptidyl peptidase-4 (DPP-4): OK but dose adjust (except linagliptin)  • SGLT2i: start at ≥ 20, continue to KRT  • GLP-1 RA: OK across eGFR range  • Pioglitazone: avoid if HF risk.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BP, lipids, and CV risk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DKD patients die from CV disease more often than ESKD.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2021 BP in CKD. KDIGO lipid recommendations.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SBP &lt; 120 by AOBP (KDIGO 2021)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BP &lt; 125/75 average (lower than office)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First-line: ACEi/ARB (dual purpose)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thiazide-like if eGFR ≥ 30; loop if &lt; 30; DHP CCB as needed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Resistant: add spironolactone or finerenone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dual renin-angiotensin-aldosterone system (RAAS) (ONTARGET — harm)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restriction &lt; 2 g Na/day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LIPIDS + CV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age 40–75: at least moderate-intensity statin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 and high ASCVD risk → high-intensity or add-on therapy when indicated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SHARP: statin + ezetimibe ↓ atherosclerotic events in CKD (not dialysis-specific benefit)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panel annually; LDL &lt; 70 aggressive in ASCVD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cessation &gt; any drug for CV reduction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 only if established ASCVD (not primary prevention in CKD)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Vaccinate: flu, COVID, pneumococcal (PCV20 alone, OR PCV15 → PPSV23 — ACIP 2024), HBV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and escalation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cadence, labs, and when to refer.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2024 CKD Guideline. NKF KFRE (Kidney Failure Risk Equation).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3840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/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cadence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risk  (G1–2, A1)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BMP, UACR, A1c, lipid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C6C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(G1–2, A2 or G3a, A1)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6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CBC, bicarb, PO4, PTH if stage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(G3a/A2, G3b/A1)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3–4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Hgb, ferritin / TSAT, vit D, 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 (G3b+/A2+ or G4)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3 mo or less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above; kidney failure risk (KFRE)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22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G4–5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if accelerating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 education, transplant referral, access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Landmark DKD trials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four-pillar story in chronological order.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on references slide.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6035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Captopril Trial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T1DM: captopril ↓ doubling Cr 48%. Foundation of RAAS in DKD.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T2DM: losartan ↓ ESKD/doubling Cr 25%.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T2DM: irbesartan ↓ progression 20–23%.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RAAS harmful — never combine ACEi + ARB.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Canagliflozin ↓ ESKD/doubling Cr/renal-CV death 30% in T2DM + CKD.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DAPA-CKD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Dapagliflozin ↓ kidney failure 39% across DM + non-DM CKD.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EMPA-KIDNEY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Empagliflozin ↓ CKD progression 28% across eGFR 20–90.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FIDELIO-DKD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Finerenone ↓ CKD progression 18% on max RAAS.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FIGARO-DKD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Finerenone ↓ CV events 13%, HF hosp 29%.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Semaglutide ↓ kidney disease progression 24% in T2DM + CKD.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DKD clinic mistakes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pillars left out, the drugs given wrong.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Nephrology teaching guide.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annual UACR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RAAS for 20% Cr rise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SGLT2i at low eGFR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 at eGFR &lt; 30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RAAS blockade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retinopathy screen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nephrology referral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UACR + eGFR together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Cr ↑ up to 30% on RAAS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SGLT2i at eGFR ≥ 20; continue to KRT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metformin &lt; 30; halve 30–45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Max-titrate one RAAS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 referral yearly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neph at G3b–A3 or G4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45-year-old woman with T2DM × 12 yr, proliferative retinopathy (post-laser), A1c 8.4%, BP 142/88 home avg. Meds: metformin 1 g BID, glipizide 10 mg, lisinopril 20 mg, HCTZ 12.5 mg. Labs: eGFR 42, UACR 580, K+ 4.5, Hb 11.2, LDL 118 (on no statin).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her DKD care — what are the top 4 things missing?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Kidney Disease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Lisinopril at SUB-maximal dose (should be 40), (2) No SGLT2i (start dapagliflozin 10 mg — eGFR qualifies), (3) No finerenone (eligible: K+ 4.5, eGFR 25-60 → start 10 mg), (4) No statin (start moderate-to-high intensity).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DKD presentation with retinopathy — diagnosis secure. All 4 pillars should be ON when eligible: ACEi/ARB max dose, SGLT2i, finerenone, GLP-1 RA. The retinopathy supports microvascular disease, but keep an eye out for atypical features. Titrate lisinopril to 40 (accept Cr rise to 30%). Start SGLT2i at eGFR ≥ 20. Finerenone 10 mg with K+ recheck in 1 month. GLP-1 RA (semaglutide 1 mg weekly per FLOW) adds kidney and CV benefit, also helps A1c and weight. Statin: diabetes age 40-75 is already an indication; CKD pushes intensity higher. BP target SBP &lt; 120 when measured by standardized AOBP and tolerated. A1c 7-8% range given CKD.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Diabetic Kidney Disease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2022 Diabetes in CKD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2024 CKD Guideline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2021 BP in CKD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2026 Standards of Care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ACC/AHA guidelines for CV in CKD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Captopril Trial — NEJM 1993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RENAAL — NEJM 2001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IDNT — NEJM 2001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ONTARGET — NEJM 2008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CREDENCE — NEJM 2019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DAPA-CKD — NEJM 2020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EMPA-KIDNEY — NEJM 2023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FIDELIO-DKD — NEJM 2020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FIGARO-DKD — NEJM 2021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— NEJM 2024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kidney disease: Manifestations, evaluation, and diagnosis  •  Treatment of diabetic kidney disease  •  SGLT2 inhibitors in CKD  •  Mineralocorticoid receptor antagonists in CKD  •  GLP-1 receptor agonists in CKD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Diabetic Kidney Disease</dc:title>
  <dc:subject>PptxGenJS Presentation</dc:subject>
  <dc:creator>Dr. Cheng</dc:creator>
  <cp:lastModifiedBy>Dr. Cheng</cp:lastModifiedBy>
  <cp:revision>1</cp:revision>
  <dcterms:created xsi:type="dcterms:W3CDTF">2026-04-23T05:14:20Z</dcterms:created>
  <dcterms:modified xsi:type="dcterms:W3CDTF">2026-04-23T05:14:20Z</dcterms:modified>
</cp:coreProperties>
</file>