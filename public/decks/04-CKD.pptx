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Kidney Disease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management — the four pillars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initiation is driven by symptoms and complications, not by eGFR alone.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is common, silent, and modifiable — most of the work is outpatient.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Clinical Practice Guideline for Evaluation and Management of CKD.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CLINIC VISIT COVERS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cause — eGFR, UACR, trend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pillars: ACEi/ARB, SGLT2i, finerenone, GLP-1 RA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BP, volume, K, bicarb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+ CKD-MBD screening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risk: statin, lifestyle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Vaccinate: flu, COVID, pneumo, HBV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education by eGFR &lt; 30; transplant referral as eGFR approaches 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chart just an eGFR. CKD is CAUSE + GFR STAGE + ALBUMINURIA. eGFR 55 / UACR 800 beats eGFR 40 / UACR 10 — the risk drives the plan.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KDIGO: Cause, GFR stage, Albuminuria (CGA)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CKD patient gets characterized on three axes.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Guideline. Use CKD-EPI 2021 (race-free) for eGFR.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58568"/>
                <a:gridCol w="2258568"/>
                <a:gridCol w="224942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E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 (UACR &lt; 30)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 (UACR 30–300)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 (UACR &gt; 300)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(≥ 90)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1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(60–89)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1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G3a  (45–59)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4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G3b  (30–44)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 (15–29)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  (&lt; 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226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 drive visit cadence, referral, and intensity of therapy. Very-high-risk patients need nephrology follow-up every 3–4 months minimum.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pillars of renoprotection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diabetic kidney disease, aim for all four when eligible; non-diabetic CKD uses selected pillars.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+ 2022 Diabetes in CKD guidelines. DAPA-CKD, EMPA-KIDNEY, FIDELIO, FLOW.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 / ARB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UACR &gt; 30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tolerated dose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Cr ↑ up to 30%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if K &gt; 5.5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RENAAL, IDNT, Captopril, AASK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SGLT2 INHIBITOR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 or empa 10 mg daily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eGFR ≥ 20; continue to KRT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independent of DM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eGFR dip ~4 mL/min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DAPA-CKD, EMPA-KIDNEY, CREDENCE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FINERENONE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Non-steroidal MRA; T2DM + albuminuric CKD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 if eGFR 25–&lt;60; 20 mg if ≥60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 ≤ 5.0 at start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 ACEi/ARB + SGLT2i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FIDELIO, FIGARO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1.0 mg SQ weekly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T2DM + CKD with CV/kidney risk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bonus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(2024) — 24% RRR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Must-ask history and must-do labs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CKD visit.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guideline. KDOQI commentary.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MUST-ASK HISTORY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DM, HTN, GN, PKD, stones, obstruction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 log (AM + PM readings)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changes / edema / dyspnea on exertion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symptoms: frothy, hematuria, nocturia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and supplements: NSAIDs, PPIs, herbal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Diet: protein load, Na+, K+ (bananas, potatoes), salt substitutes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/ alcohol — modifiable risk factors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kidney imaging or biopsy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AT EACH VISIT (TIERED)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visit: BMP, UACR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Q3–6 mo (stage 3+): CBC, Mg, PO4, bicarb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Q6–12 mo (stage 3b+): PTH, 25-OH vit D, ferritin / iron sat, albumin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Annually: lipid panel, HbA1c if DM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Once: hepatitis serologies (transplant prep), HIV, renal US if never done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 — bring log; if not, teach how to log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pressure in CKD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2021: target SBP &lt; 120 mmHg (automated office blood pressure (AOBP)) when tolerated.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BP in CKD Guideline. SPRINT trial (NEJM 2015).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MATTERS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attended automated office BP (AOBP) when possible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BP: AM + PM, 2 readings each, 1 min apart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cuff size; arm at heart level; quiet 5 min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White-coat HTN is real — home/ambulatory BP catches it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HTN: normal in clinic, elevated at home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'120' target was derived from AOBP in SPRINT — not routine office BP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SEQUENCE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ACEi or ARB (never both)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Thiazide or loop diuretic (loop if eGFR &lt; 30)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Amlodipine or other CCB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Spironolactone or finerenone (resistant HTN)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Additional: beta-blocker, hydralazine, clonidine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dual RAAS blockade (ONTARGET — harmful)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DKD: favor ACEi/ARB + SGLT2i + finerenone combo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Complications — screen and treat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patients feel bad and the reasons they die.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2017 CKD-MBD update. KDIGO 2012 Anemia of CKD (2026 update pending).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Hgb, ferritin, TSAT (q6–12 mo stage 3+)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first (TSAT &lt; 30 or ferritin &lt; 100). erythropoiesis-stimulating agent (ESA) if Hgb &lt; 10 after iron (target 10–11.5). Daprodustat (HIF-PHI) emerging.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CKD-MBD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Ca, PO4, PTH, 25-OH D (q6–12 mo stage 3b+)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persistent hyperphosphatemia with diet ± binders. Cholecalciferol for low 25-OH D. Reserve calcitriol/paricalcitol for severe progressive 2° HPT in G4–G5.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Metabolic acidosis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bicarb (q visit stage 3b+)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KDIGO 2024: consider oral NaHCO3 when bicarb &lt; 18. BiCARB trial did not confirm routine benefit.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Hyperkalemia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 q visit; symptoms; diet hx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Diet first. Binder (SZC, patiromer) lets you keep RAAS (AMBER). Avoid Kayexalate.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CVD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 panel, HbA1c, smoking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Statin in most CKD (SHARP — not in dialysis). ASA if ASCVD. BP to target. Smoking cessation.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for kidney failure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conversation at eGFR 30. Refer to transplant at eGFR 20.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2020 Transplant Candidate Evaluation. AST/ASN modality choice guidance.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EDUCATION (eGFR &lt; 30)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in-center HD, home HD, PD, transplant, conservative care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planning at eGFR &lt; 20: arteriovenous fistula (AVF) cannulation minimum 6–8 weeks, but plan ≥ 6 months ahead (maturation + possible salvage)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non-dominant arm veins — no PICC, no IVs from now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preferences, caregiver support, home environment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 + dietitian involvement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is not an eGFR threshold — it's a symptom threshold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EVALUATION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referral at eGFR ≤ 20 — allows preemptive listing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transplant = best outcomes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donor &gt; deceased donor (longer graft life)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Workup: cardiac, cancer screen age-appropriate, HLA typing, HBV/HCV/HIV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clearance, vaccines UTD pre-transplant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to screen: SES, adherence concerns, active cancer (usually 2–5 y wait)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CKD trials you must know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pillar.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6126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Losartan ↓ ESKD/doubling Cr 25–28% in T2DM nephropathy.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Irbesartan — renoprotection independent of BP lowering.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RAAS (ACEi+ARB) → harm, more hyperK and AKI.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SBP &lt; 120 ↓ CV events 25% (non-diabetic).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Canagliflozin ↓ kidney failure 30% in DKD.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DAPA-CKD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Dapagliflozin ↓ kidney failure 39% (incl. non-DM).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EMPA-KIDNEY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Empagliflozin ↓ CKD progression 28% across broad eGFR.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FIDELIO-DKD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Finerenone ↓ CKD progression 18% in T2DM on max RAAS.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Semaglutide ↓ kidney disease progression 24% in T2DM + CKD.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58-year-old Black man with T2DM × 15 yr, HTN, obesity. Labs: eGFR 38 (CKD-EPI 2021), UACR 720 mg/g, HbA1c 7.8%, K+ 4.8, HCO3 23, Hb 10.9 (ferritin 90, TSAT 18%), home BP avg 148/88. On lisinopril 40, amlodipine 10, metformin 1000 BID, atorvastatin.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pillars are missing, and what's your next 3 interventions?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SGLT2i, finerenone, GLP-1 RA. Also anemia workup needed. (1) Add dapagliflozin 10 mg, (2) add finerenone 10 mg (K+ &lt; 5.0 ✓), (3) IV iron then consider ESA if Hb stays &lt; 10.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 classification: G3b-A3 (very high risk). DKD pillars should be on-board when eligible. Stop metformin at eGFR &lt; 30; he's still OK at 38. BP target is SBP &lt; 120 when measured by standardized AOBP and tolerated. Also: retinal exam annually, vaccinate (flu, COVID, pneumococcal, HBV), modality education at eGFR &lt; 30, nephrology follow-up q3-4 months for very-high-risk.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Kidney Disease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Evaluation &amp; Management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2022 Diabetes in CKD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Blood Pressure in CKD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2017 CKD-MBD update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2020 Transplant Candidate Evaluation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RENAAL — NEJM 2001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IDNT — NEJM 2001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ONTARGET — NEJM 2008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— NEJM 2015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CREDENCE — NEJM 2019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DAPA-CKD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EMPA-KIDNEY — NEJM 2023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FIDELIO-DKD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— NEJM 2024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— Lancet 2011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management of chronic kidney disease in adults  •  Proteinuria and albuminuria: evaluation and causes  •  Antihypertensive therapy and progression of CKD  •  SGLT2 inhibitors in CKD  •  Dialysis modality and vascular access planning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Kidney Disease</dc:title>
  <dc:subject>PptxGenJS Presentation</dc:subject>
  <dc:creator>Dr. Cheng</dc:creator>
  <cp:lastModifiedBy>Dr. Cheng</cp:lastModifiedBy>
  <cp:revision>1</cp:revision>
  <dcterms:created xsi:type="dcterms:W3CDTF">2026-04-23T05:14:04Z</dcterms:created>
  <dcterms:modified xsi:type="dcterms:W3CDTF">2026-04-23T05:14:04Z</dcterms:modified>
</cp:coreProperties>
</file>