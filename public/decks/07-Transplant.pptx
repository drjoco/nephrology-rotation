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3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NEPHROLOGY TEACHING SERIES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Kidney Transplant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Outpatient management of the transplant recipient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914400" cy="36576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383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visit: graft function, immunosuppression, infection, malignancy, CV risk.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Cheng  •  Premier Nephrology Medical Group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MS3/MS4 rotation teaching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Transplant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get consulted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Transplant patients are more fragile than they look. Small changes matter.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2009 Care of the Kidney Transplant Recipient. AST/ASN resources.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VISIT PRIORITIES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Graft function (Cr, UACR, BP, weight)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Tacrolimus trough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Infection screen: BK, CMV, EBV; PJP prophylaxis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Cancer: skin, PTLD, cervix, colon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risk, DM, HTN, lipids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CNI + steroid bone effects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vaccines on immunosuppression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4023360" cy="3291840"/>
          </a:xfrm>
          <a:prstGeom prst="rect">
            <a:avLst/>
          </a:prstGeom>
          <a:solidFill>
            <a:srgbClr val="EBF3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280160"/>
            <a:ext cx="4023360" cy="7315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444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PEARL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03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rising Cr in transplant is never 'mild.' Ddx: dehydration, drug interaction, BK, rejection, CNI toxicity, recurrence, obstruction. Get tac level, UACR, UA.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Transplant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immunosuppression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Induction → maintenance triple therapy → lifelong monitoring.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2009/2020 transplant guidelines. ELITE-Symphony trial (NEJM 2007).</a:t>
            </a:r>
            <a:endParaRPr lang="en-US" sz="8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  <a:gridCol w="2103120"/>
                <a:gridCol w="21945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Dose /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toxicity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Basiliximab (low-risk) or anti-thymocyte globulin (high-risk)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IV, peri-op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ATG: cytokine release, cytopenias, infection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Tacrolimus (CNI)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Trough 5–10 ng/mL (yr 1), 4–8 long-term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Nephrotoxicity, DM, tremor, HTN, hypoMg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Mycophenolate (mycophenolate mofetil (MMF))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g PO BID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 (diarrhea), cytopenias, teratogen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Prednisone (if not steroid-free)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mg/day maintenance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DM, osteoporosis, cataracts, weight gain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Belatacept (CD80/86 blockade)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 infusion monthly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in EBV-seropositive; PTLD risk in naive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Transplant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Rising creatinine — the differential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Biopsy is the definitive answer when pre-renal and drug causes are excluded.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UpToDate: Evaluation of acute kidney allograft dysfunction (2026).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PRE-RENAL / HEMODYNAMIC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164592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Dehydration (GI illness, poor PO), diuretics, NSAIDs, ACEi/ARB addition, sepsis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28016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280160"/>
            <a:ext cx="73152" cy="10058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/ TOXIC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00600" y="164592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tac level (check trough); cytochrome P450 3A4 (CYP3A4) interactions (azoles, macrolides, diltiazem, grapefruit); contrast; aminoglycosides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37744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377440"/>
            <a:ext cx="73152" cy="1005840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450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 (need biopsy)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274320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rejection: T-cell mediated (T-cell infiltrate). Antibody-mediated: donor-specific antibody (DSA)+, C4d+ on biopsy. Both cause rapid Cr rise, often subclinical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237744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2377440"/>
            <a:ext cx="73152" cy="1005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2450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INFECTION / VIRAL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00600" y="274320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 nephropathy (check BK PCR; decoy cells); CMV; pyelonephritis (allograft tender)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47472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474720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547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38404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Ureteral obstruction (stricture, lymphocele, stone); renal artery stenosis (refractory HTN + Cr rise); DVT/RVT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17720" y="347472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3474720"/>
            <a:ext cx="73152" cy="1005840"/>
          </a:xfrm>
          <a:prstGeom prst="rect">
            <a:avLst/>
          </a:prstGeom>
          <a:solidFill>
            <a:srgbClr val="BC6C25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3547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DISEASE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00600" y="38404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FSGS (most common), IgA, MPGN, diabetic nephropathy — usually ≥ 1 yr post-transplant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Transplant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Infection prophylaxis and screening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risk first 6 months. Keep surveillance lifelong.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Infectious Diseases Community of Practice guidelines.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38404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Pathogen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window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Prophylaxis / screening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Pneumocystis (PJP)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6–12 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TMP-SMX single-strength daily or 3×/wk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3–6 mo (D+/R− highest risk)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Valganciclovir 900 mg daily × 6 mo (D+/R−); or preemptive with PCR monitoring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BK virus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2 yr; lifelong surveillance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 PCR monthly × 6 mo, then q3 mo × 2 yr; reduce IS if viremia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EBV / PTLD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Lifelong (high in D+/R−)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PCR if new lymphadenopathy, cytopenia, weight loss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Fungal (Candida, Aspergillus)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post-op; lung tx higher risk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 nystatin × 3 mo; consider azole if prior col.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HBV reactivation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Lifelong if HBsAg+ or anti-HBc+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Entecavir / tenofovir + serology monitoring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 / COVID / S. pneumo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/ per schedule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Inactivated vaccines only; NO live (MMR, varicella, yellow fever)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Transplant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Tacrolimus — levels, interactions, side effects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common source of transplant chaos.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UpToDate: Pharmacology of cyclosporine and tacrolimus (2026).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THE LEVEL (CYP3A4 inhibitors)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Azole antifungals (fluconazole, voriconazole, posaconazole)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Macrolides (erythromycin, clarithromycin — NOT azithromycin)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Diltiazem, verapamil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Protease inhibitors (HIV, HCV)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Grapefruit juice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tac level to rise within 48–72 h; recheck &amp; adjust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THE LEVEL (CYP3A4 inducers)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Rifampin, rifabutin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Phenytoin, carbamazepine, phenobarbital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John's wort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side effects: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Nephrotoxicity (afferent vasoconstriction), hyperK, hypoMg, tremor, HA, new-onset DM, HTN, hair changes, alopecia (in women)</a:t>
            </a:r>
            <a:endParaRPr lang="en-US" sz="1050" dirty="0"/>
          </a:p>
          <a:p>
            <a:pPr>
              <a:spcAft>
                <a:spcPts val="500"/>
              </a:spcAft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draw trough 12 h post-dose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Transplant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Malignancy — the long-tail risk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Transplant recipients have 2–4× baseline cancer risk. Most cancers are preventable or detectable.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Kidney Transplant Recipient cancer screening consensus.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15544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CANCER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164592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(squamous cell carcinoma (SCC) &gt; basal cell carcinoma (BCC)); 65× baseline for SCC. Annual dermatology. Daily SPF 30+. Self-exam. Avoid tanning beds.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28016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280160"/>
            <a:ext cx="73152" cy="1554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PTLD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00600" y="164592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EBV-driven B-cell lymphoma; first year risk highest. Symptoms: weight loss, adenopathy, cytopenia. Rx: reduce IS + rituximab ± chemo.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971800"/>
            <a:ext cx="73152" cy="1554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044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KIDNEY RCC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333756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cystic disease and long dialysis vintage raise RCC risk. Screen high-risk patients by center protocol; routine annual CT is not universal.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2971800"/>
            <a:ext cx="41148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2971800"/>
            <a:ext cx="73152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3044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 / CERVICAL / BREAST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00600" y="333756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Colonoscopy per guidelines; cervical cytology annually (not 3-yearly); mammo per guidelines. HPV vaccination where applicable.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Transplant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Landmark trials in transplant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shapes current induction / maintenance / rejection.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citations on references slide.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731520"/>
                <a:gridCol w="60350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Takeaway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ELITE-Symphony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Low-dose tac + MMF + steroids + daclizumab best — now standard.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Belatacept vs cyclosporine — better renal function, similar graft survival long-term.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BENEFIT-EXT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Belatacept in extended-criteria donors — non-inferior; avoid in EBV-naive.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3C Study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Alemtuzumab vs basiliximab induction — equivalent outcomes.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CAESAR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Cyclosporine withdrawal → more rejection; ongoing low-dose CNI is safer.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Living donor kidney paired exchange — durable benefit, safe.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DeKAF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Antibody-mediated rejection classification and outcomes.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 / PIVOT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Once-daily tacrolimus (Envarsus / Advagraf) — improved adherence, non-inferior.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Transplant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clinic mistakes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errors that lead to rejection or hospitalization.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Nephrology teaching guide.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drug interactions on tac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PJP prophylaxis early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vaccines on immunosuppression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small Cr rises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routine BK PCR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 rejection without biopsy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on one tac level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INSTEAD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meds at every visit (incl OTC / grapefruit)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prophylaxis with transplant center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Inactivated vaccines only (recombinant zoster OK)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↑ → tac level, BK PCR, UA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 + CMV PCR per center schedule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Biopsy if Cr ↑ &gt; 20% without reversible cause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Recheck tac 3–5 d after dose change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Transplant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case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 — answer is on the next slide.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teaching case.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841248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2514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VIGNETTE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627632"/>
            <a:ext cx="8046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55-year-old woman 14 months s/p deceased donor kidney transplant, on tacrolimus 3 mg BID (last trough 6.5), MMF 1 g BID, prednisone 5 mg. Baseline Cr 1.3. Clinic visit today: Cr 1.9. She reports 'taking drugs as prescribed.' New prescription 1 month ago from PCP: clarithromycin for bronchitis, completed. No fever, no urinary symptoms.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EBF3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95928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most likely cause of the Cr rise, and what should you check?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Transplant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case — answer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teaching points from the case.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teaching case.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84124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10972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62763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Tacrolimus toxicity from clarithromycin (CYP3A4 inhibition). Check tac trough NOW; expect elevated; also BK PCR, UA, UACR, volume status to exclude other causes.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84124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14600"/>
            <a:ext cx="73152" cy="2240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877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852928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interactions are the #1 reversible cause of Cr rise in transplant clinic. Classic CYP3A4 inhibitors that RAISE tac: azole antifungals (fluc, vori, posa), macrolides (erythro, clarithro — NOT azithro), diltiazem, verapamil, grapefruit, HIV protease inhibitors. Always review the med list at every visit. If tac level is elevated, reduce dose and re-check in 3-5 days. If Cr doesn't return to baseline, the differential broadens: dehydration, rejection, BK nephropathy, obstruction, recurrent disease. Always get UA, UACR, BK PCR, and consider biopsy if Cr &gt; 20% above baseline without clear reversible cause.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33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Kidney Transplant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2009 Care of the Kidney Transplant Recipient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KDIGO 2020 Transplant Candidate Evaluation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Infectious Diseases Community of Practice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Cancer Screening Consensus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ISHLT vaccines in solid organ transplant (2019)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377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Trials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0" y="19659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ELITE-Symphony — NEJM 2007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— AJT 2010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BENEFIT-EXT — AJT 2010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3C Study — Lancet 2014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CAESAR — AJT 2007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DeKAF — AJT 2012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(paired exchange) — JAMA 2019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 (2026 access):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4846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of acute kidney allograft dysfunction  •  Pharmacology and side effects of calcineurin inhibitors  •  BK polyomavirus-associated nephropathy  •  Infection after kidney transplantation  •  Kidney transplantation in adults: Immunosuppression maintenance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Kidney Transplant</dc:title>
  <dc:subject>PptxGenJS Presentation</dc:subject>
  <dc:creator>Dr. Cheng</dc:creator>
  <cp:lastModifiedBy>Dr. Cheng</cp:lastModifiedBy>
  <cp:revision>1</cp:revision>
  <dcterms:created xsi:type="dcterms:W3CDTF">2026-04-23T05:14:12Z</dcterms:created>
  <dcterms:modified xsi:type="dcterms:W3CDTF">2026-04-23T05:14:12Z</dcterms:modified>
</cp:coreProperties>
</file>