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3E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NEPHROLOGY TEACHING SERIES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PD Peritonitis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26974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B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Diagnosis, empiric therapy, catheter decisions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3246120"/>
            <a:ext cx="914400" cy="36576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3832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B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Cloudy effluent = peritonitis until proven otherwise. Culture FIRST, then IP antibiotics.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4434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B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Cheng  •  Premier Nephrology Medical Group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4709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MS3/MS4 rotation teaching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 Peritonitis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we get consulted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 patient with cloudy effluent, pain, or fever.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ISPD 2022 Peritonitis Guidelines.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280160"/>
            <a:ext cx="4114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280160"/>
            <a:ext cx="73152" cy="3291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 TRIGGERS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1737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8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Cloudy effluent</a:t>
            </a:r>
            <a:endParaRPr lang="en-US" sz="1200" dirty="0"/>
          </a:p>
          <a:p>
            <a:pPr>
              <a:spcAft>
                <a:spcPts val="8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Abdominal pain in PD patient</a:t>
            </a:r>
            <a:endParaRPr lang="en-US" sz="1200" dirty="0"/>
          </a:p>
          <a:p>
            <a:pPr>
              <a:spcAft>
                <a:spcPts val="8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Fever / leukocytosis</a:t>
            </a:r>
            <a:endParaRPr lang="en-US" sz="1200" dirty="0"/>
          </a:p>
          <a:p>
            <a:pPr>
              <a:spcAft>
                <a:spcPts val="8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Exit-site or tunnel infection</a:t>
            </a:r>
            <a:endParaRPr lang="en-US" sz="1200" dirty="0"/>
          </a:p>
          <a:p>
            <a:pPr>
              <a:spcAft>
                <a:spcPts val="8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Refractory at 48–72 h</a:t>
            </a:r>
            <a:endParaRPr lang="en-US" sz="1200" dirty="0"/>
          </a:p>
          <a:p>
            <a:pPr>
              <a:spcAft>
                <a:spcPts val="8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Relapsing / recurrent peritonitis</a:t>
            </a:r>
            <a:endParaRPr lang="en-US" sz="1200" dirty="0"/>
          </a:p>
          <a:p>
            <a:pPr>
              <a:spcAft>
                <a:spcPts val="8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Fungal — urgent catheter decision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1280160"/>
            <a:ext cx="4023360" cy="3291840"/>
          </a:xfrm>
          <a:prstGeom prst="rect">
            <a:avLst/>
          </a:prstGeom>
          <a:solidFill>
            <a:srgbClr val="EBF3F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280160"/>
            <a:ext cx="4023360" cy="73152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5" name="Text 13"/>
          <p:cNvSpPr/>
          <p:nvPr/>
        </p:nvSpPr>
        <p:spPr>
          <a:xfrm>
            <a:off x="4983480" y="14447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PEARL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83480" y="173736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03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Send effluent in blood culture bottles BEFORE antibiotics (much higher yield). Then start empiric IP therapy. Treat on clinical suspicion + cloudy.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 Peritonitis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Diagnosis: the 2-of-3 rule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diagnosis when any 2 of 3 criteria are met.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Society for Peritoneal Dialysis (ISPD) 2022 Peritonitis Guidelines.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1143000" y="1234440"/>
            <a:ext cx="76352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80160" y="1280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FEATURES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80160" y="16002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Abdominal pain and/or cloudy PD effluent. Pain is usually diffuse; rebound + rigidity = surgical abdomen until proven otherwise.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4231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1143000" y="2377440"/>
            <a:ext cx="76352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80160" y="2423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EFFLUENT WBC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80160" y="27432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100 cells/µL (with at least 2-h dwell time) AND &gt; 50% polymorphonuclear leukocytes (PMNs). In short dwell (automated peritoneal dialysis (APD)), weight the PMN % heavily.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5661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566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1143000" y="3520440"/>
            <a:ext cx="76352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80160" y="3566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CULTURE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80160" y="38862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Organism isolated from PD effluent. Yield is higher if sent in blood-culture bottles (ISPD recommended). Culture-negative peritonitis ~15% (often pre-antibiotic draw).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 Peritonitis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to send — in order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Effluent BEFORE antibiotics. Then start IP therapy empirically.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ISPD 2022 Peritonitis Guidelines.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11480" y="1307592"/>
            <a:ext cx="411480" cy="41148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307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60120" y="1234440"/>
            <a:ext cx="78181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128016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Drain-in-drain-out: send first drained bag effluent (minimum 50 mL), centrifuge 3000×g × 15 min.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1965960"/>
            <a:ext cx="411480" cy="41148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60120" y="1892808"/>
            <a:ext cx="78181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193852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Inoculate sediment into blood-culture bottles (aerobic + anaerobic). Also send Gram stain, cell count with diff.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1480" y="2624328"/>
            <a:ext cx="411480" cy="41148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2624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60120" y="2551176"/>
            <a:ext cx="78181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2596896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Exam: exit site (erythema, pus, crust), tunnel palpation, abdomen (diffuse vs localized, rebound, rigidity).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1480" y="3282696"/>
            <a:ext cx="411480" cy="41148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32826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60120" y="3209544"/>
            <a:ext cx="78181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97280" y="3255264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cultures if febrile; CBC, BMP, lactate, bowel imaging (CT) if surgical abdomen.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11480" y="3941064"/>
            <a:ext cx="411480" cy="41148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" y="39410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60120" y="3867912"/>
            <a:ext cx="78181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97280" y="3913632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empiric IP antibiotics AFTER cultures sent (see next slide). Do not delay for lab results.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 Peritonitis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Empiric IP antibiotic regimens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gram-positive + gram-negative; intraperitoneal, not IV.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ISPD 2022 Peritonitis Guidelines.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84124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108960"/>
                <a:gridCol w="29260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Regimen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Dose (intraperitoneal)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Vancomycin  +  3rd-gen cephalosporin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Vanc: 15–30 mg/kg IP load q5–7 d (redose per level)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Ceftazidime: 1 g IP daily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common regimen; watch vanc level; covers MRSA + enteric gram-negative rod (GNR)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Cefazolin  +  ceftazidime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Cefazolin: 15–20 mg/kg IP daily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Ceftazidime: 1 g IP daily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Alternative if low MRSA prevalence; cheaper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Vancomycin  +  aminoglycoside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Vanc as above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Gentamicin 0.6 mg/kg IP daily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Avoid prolonged courses (ototoxicity, nephrotoxicity in residual function)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Cefepime monotherapy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g IP daily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ISPD 2022 acceptable alternative; broad coverage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65760" y="3840480"/>
            <a:ext cx="8412480" cy="731520"/>
          </a:xfrm>
          <a:prstGeom prst="rect">
            <a:avLst/>
          </a:prstGeom>
          <a:solidFill>
            <a:srgbClr val="EBF3F7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391363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IP not IV: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 higher peritoneal concentration; avoids systemic exposure. Continuous dosing in every dwell OR intermittent once-daily dosing; fill volume at normal dwell time. Add heparin 500 U/L to prevent fibrin clots.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 Peritonitis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Tailoring therapy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at 48–72 h based on culture + sensitivities. Total course 14–21 days.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ISPD 2022 Peritonitis Guidelines.</a:t>
            </a:r>
            <a:endParaRPr lang="en-US" sz="8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84124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657600"/>
                <a:gridCol w="25603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Organism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Preferred therapy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 (coag-neg staph)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Cefazolin or vanc IP (per susceptibility)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days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 aureus (MSSA / MRSA)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Cefazolin (MSSA) / vanc (MRSA); + rifampin if exit-site source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 days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Streptococcus / Enterococcus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Ampicillin ± gent (enterococcus); vanc if resistant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days (strep) / 21 days (enteroc.)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GNR  (E. coli, Klebsiella)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Ceftazidime or cefepime per sensitivities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 days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Pseudomonas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Dual coverage (ceftaz + gent or cipro); often removes catheter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 days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9B2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Polymicrobial / enteric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Think surgical abdomen — CT, surgery consult; broad-spectrum IV + IP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Variable; often catheter removal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9B2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Fungal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catheter IMMEDIATELY; IV fluconazole or echinocandin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2 wk after catheter removal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9B2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Mycobacteria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Rare; often remove; 4-drug ID-directed regimen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ID-guided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 Peritonitis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to remove the catheter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Removal is common; learn the triggers early.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ISPD 2022 Peritonitis Guidelines.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280160"/>
            <a:ext cx="4114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280160"/>
            <a:ext cx="73152" cy="3291840"/>
          </a:xfrm>
          <a:prstGeom prst="rect">
            <a:avLst/>
          </a:prstGeom>
          <a:solidFill>
            <a:srgbClr val="9B2226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9B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CATHETER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1691640"/>
            <a:ext cx="37490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</a:pPr>
            <a:r>
              <a:rPr lang="en-US" sz="1050" b="1" dirty="0">
                <a:solidFill>
                  <a:srgbClr val="9B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Fungal peritonitis — immediately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Refractory peritonitis (no improvement by day 5 of appropriate IP abx)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Relapsing peritonitis (same organism within 4 wk of course end)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Mycobacterial peritonitis — usually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tunnel infection with same organism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Polymicrobial with enteric flora (think surgical perforation)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Refractory exit-site / tunnel infection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280160"/>
            <a:ext cx="4114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280160"/>
            <a:ext cx="73152" cy="32918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CATHETER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37760" y="1691640"/>
            <a:ext cx="37490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improvement + effluent clearing by 48–72 h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organism susceptible to narrow therapy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tunnel / exit-site involvement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Effluent WBC trending down even if still &gt; 100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ISPD 2022: if effluent WBC clearly improving, continuing abx beyond day 5 is reasonable before removal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removal: minimum 2-week antibiotic course + a few weeks on HD before new PD catheter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 Peritonitis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Prevention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Training, exit-site care, prophylaxis for specific situations.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ISPD 2022 Peritonitis Prevention Recommendations.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280160"/>
            <a:ext cx="41148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280160"/>
            <a:ext cx="73152" cy="1554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EXIT-SITE CARE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164592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cleansing with chlorhexidine or antibacterial soap. Topical mupirocin or gentamicin cream at exit site daily (proven to reduce peritonitis). Avoid immersion in swimming pools / hot tubs during catheter placement.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17720" y="1280160"/>
            <a:ext cx="41148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1280160"/>
            <a:ext cx="73152" cy="15544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+ RETRAINING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00600" y="164592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training &gt; 15 hours; home visits after 2 weeks. Retrain after every peritonitis episode — poor technique is the #1 reversible risk factor. Assess hand hygiene, bag exchange technique, exit-site care.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971800"/>
            <a:ext cx="41148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971800"/>
            <a:ext cx="73152" cy="155448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0449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 PROPHYLAXIS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333756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Colonoscopy or invasive GYN procedures: antibiotic prophylaxis + empty abdomen per center protocol. Review any planned invasive procedure with the PD team.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17720" y="2971800"/>
            <a:ext cx="41148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17720" y="2971800"/>
            <a:ext cx="73152" cy="1554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30449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CONSTIPATION + HYPOKALEMIA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800600" y="333756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Constipation → gram-negative peritonitis; aggressive stool management. Hypokalemia → gut bacterial translocation, higher peritonitis risk — replete.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 Peritonitis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Common pitfalls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errors that cause treatment failure or catheter loss.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Nephrology teaching guide.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280160"/>
            <a:ext cx="4114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280160"/>
            <a:ext cx="73152" cy="3291840"/>
          </a:xfrm>
          <a:prstGeom prst="rect">
            <a:avLst/>
          </a:prstGeom>
          <a:solidFill>
            <a:srgbClr val="9B2226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9B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1737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on culture to start abx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antibiotics instead of IP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Effluent in plain tubes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Skipping exit-site exam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catheter for fungal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Refusing to remove refractory catheter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mupirocin prophylaxis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280160"/>
            <a:ext cx="4114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280160"/>
            <a:ext cx="73152" cy="32918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INSTEAD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37760" y="1737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effluent + start IP abx together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dosing (continuous or daily)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blood-culture bottles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exit site + tunnel every visit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for fungal, refractory, relapsing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no improvement → remove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exit-site mupirocin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 Peritonitis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 case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it through — answer is on the next slide.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teaching case.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280160"/>
            <a:ext cx="8412480" cy="2514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280160"/>
            <a:ext cx="73152" cy="25146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5331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VIGNETTE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1627632"/>
            <a:ext cx="8046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52-year-old man on CAPD × 3 yr for ESRD from DKD, presents with 1 day of cloudy effluent and abdominal pain. Last episode 8 months ago (staph epi). T 37.9, BP 128/78. Abdomen: diffuse tenderness, no rigidity. Exit site: clean, no erythema. Effluent sent: WBC 1400/µL, 82% PMN. Gram stain: gram-positive cocci in clusters. Cultures pending.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931920"/>
            <a:ext cx="8412480" cy="822960"/>
          </a:xfrm>
          <a:prstGeom prst="rect">
            <a:avLst/>
          </a:prstGeom>
          <a:solidFill>
            <a:srgbClr val="EBF3F7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995928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3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empiric regimen, and what would trigger catheter removal?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 Peritonitis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 case — answer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teaching points from the case.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teaching case.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280160"/>
            <a:ext cx="84124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280160"/>
            <a:ext cx="73152" cy="109728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5331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1627632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vancomycin (15-30 mg/kg load) + IP ceftazidime (1 g daily); empiric coverage until cultures final. Remove catheter for fungal, refractory (no improvement by day 5), or relapsing peritonitis.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841248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514600"/>
            <a:ext cx="73152" cy="22402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58775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2852928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PD peritonitis — cloudy effluent + pain + effluent WBC &gt; 100 with &gt; 50% PMN meets 2-of-3 ISPD criteria. Always send effluent in blood-culture bottles BEFORE antibiotics. Gram-positive on Gram stain suggests staph — continue vanc until sensitivities back. Dual coverage (add ceftaz) for gram-negative until final cultures. Duration 14-21 days (21 for staph aureus). Keep the catheter unless: fungal (remove immediately), refractory at day 5, relapsing (same org within 4 wk), mycobacterial, concurrent tunnel infection. After the episode: review exit-site technique, re-training (poor technique is #1 reversible risk), continue mupirocin at exit site daily.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33E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868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PD Peritonitis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3931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ISPD 2022 Peritonitis Guidelines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ISPD 2016 Peritoneal Dialysis-Related Infections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ISPD 2017 Catheter-related infections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KDOQI / ISPD PD Adequacy Guidelines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93776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 Trials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37760" y="196596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Perez Fontan et al. — mupirocin exit-site prophylaxis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Bernardini et al. — gentamicin cream vs mupirocin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 Outcomes Registry data (USRDS, BRAZPD, etc.)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Ballinger et al. — rapid cycler peritonitis outcomes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46177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UpToDate (2026 access):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48463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B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manifestations and diagnosis of peritonitis in peritoneal dialysis  •  Treatment of peritonitis in peritoneal dialysis  •  Exit-site and tunnel infections in peritoneal dialysis  •  Peritoneal dialysis catheter-related infections: Prevention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PD Peritonitis</dc:title>
  <dc:subject>PptxGenJS Presentation</dc:subject>
  <dc:creator>Dr. Cheng</dc:creator>
  <cp:lastModifiedBy>Dr. Cheng</cp:lastModifiedBy>
  <cp:revision>1</cp:revision>
  <dcterms:created xsi:type="dcterms:W3CDTF">2026-04-23T05:14:27Z</dcterms:created>
  <dcterms:modified xsi:type="dcterms:W3CDTF">2026-04-23T05:14:27Z</dcterms:modified>
</cp:coreProperties>
</file>